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3"/>
    <p:sldId id="258" r:id="rId4"/>
  </p:sldIdLst>
  <p:sldSz cx="164592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1" autoAdjust="0"/>
    <p:restoredTop sz="94660"/>
  </p:normalViewPr>
  <p:slideViewPr>
    <p:cSldViewPr snapToGrid="0">
      <p:cViewPr varScale="1">
        <p:scale>
          <a:sx n="54" d="100"/>
          <a:sy n="54" d="100"/>
        </p:scale>
        <p:origin x="84" y="9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FB6693-90BA-4C8C-A633-111A16C466C0}" type="datetimeFigureOut">
              <a:rPr lang="en-US" smtClean="0"/>
              <a:t>4/17/2026</a:t>
            </a:fld>
            <a:endParaRPr lang="en-US"/>
          </a:p>
        </p:txBody>
      </p:sp>
      <p:sp>
        <p:nvSpPr>
          <p:cNvPr id="4" name="Slide Image Placeholder 3"/>
          <p:cNvSpPr>
            <a:spLocks noGrp="1" noRot="1" noChangeAspect="1"/>
          </p:cNvSpPr>
          <p:nvPr>
            <p:ph type="sldImg" idx="2"/>
          </p:nvPr>
        </p:nvSpPr>
        <p:spPr>
          <a:xfrm>
            <a:off x="652463" y="1143000"/>
            <a:ext cx="55530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1AF2CE-5393-4CF7-918F-03DA7A602E67}" type="slidenum">
              <a:rPr lang="en-US" smtClean="0"/>
              <a:t>‹#›</a:t>
            </a:fld>
            <a:endParaRPr lang="en-US"/>
          </a:p>
        </p:txBody>
      </p:sp>
    </p:spTree>
    <p:extLst>
      <p:ext uri="{BB962C8B-B14F-4D97-AF65-F5344CB8AC3E}">
        <p14:creationId xmlns:p14="http://schemas.microsoft.com/office/powerpoint/2010/main" val="3834251220"/>
      </p:ext>
    </p:extLst>
  </p:cSld>
  <p:clrMap bg1="lt1" tx1="dk1" bg2="lt2" tx2="dk2" accent1="accent1" accent2="accent2" accent3="accent3" accent4="accent4" accent5="accent5" accent6="accent6" hlink="hlink" folHlink="folHlink"/>
  <p:notesStyle>
    <a:lvl1pPr marL="0" algn="l" defTabSz="1228954" rtl="0" eaLnBrk="1" latinLnBrk="0" hangingPunct="1">
      <a:defRPr sz="1613" kern="1200">
        <a:solidFill>
          <a:schemeClr val="tx1"/>
        </a:solidFill>
        <a:latin typeface="+mn-lt"/>
        <a:ea typeface="+mn-ea"/>
        <a:cs typeface="+mn-cs"/>
      </a:defRPr>
    </a:lvl1pPr>
    <a:lvl2pPr marL="614477" algn="l" defTabSz="1228954" rtl="0" eaLnBrk="1" latinLnBrk="0" hangingPunct="1">
      <a:defRPr sz="1613" kern="1200">
        <a:solidFill>
          <a:schemeClr val="tx1"/>
        </a:solidFill>
        <a:latin typeface="+mn-lt"/>
        <a:ea typeface="+mn-ea"/>
        <a:cs typeface="+mn-cs"/>
      </a:defRPr>
    </a:lvl2pPr>
    <a:lvl3pPr marL="1228954" algn="l" defTabSz="1228954" rtl="0" eaLnBrk="1" latinLnBrk="0" hangingPunct="1">
      <a:defRPr sz="1613" kern="1200">
        <a:solidFill>
          <a:schemeClr val="tx1"/>
        </a:solidFill>
        <a:latin typeface="+mn-lt"/>
        <a:ea typeface="+mn-ea"/>
        <a:cs typeface="+mn-cs"/>
      </a:defRPr>
    </a:lvl3pPr>
    <a:lvl4pPr marL="1843430" algn="l" defTabSz="1228954" rtl="0" eaLnBrk="1" latinLnBrk="0" hangingPunct="1">
      <a:defRPr sz="1613" kern="1200">
        <a:solidFill>
          <a:schemeClr val="tx1"/>
        </a:solidFill>
        <a:latin typeface="+mn-lt"/>
        <a:ea typeface="+mn-ea"/>
        <a:cs typeface="+mn-cs"/>
      </a:defRPr>
    </a:lvl4pPr>
    <a:lvl5pPr marL="2457907" algn="l" defTabSz="1228954" rtl="0" eaLnBrk="1" latinLnBrk="0" hangingPunct="1">
      <a:defRPr sz="1613" kern="1200">
        <a:solidFill>
          <a:schemeClr val="tx1"/>
        </a:solidFill>
        <a:latin typeface="+mn-lt"/>
        <a:ea typeface="+mn-ea"/>
        <a:cs typeface="+mn-cs"/>
      </a:defRPr>
    </a:lvl5pPr>
    <a:lvl6pPr marL="3072384" algn="l" defTabSz="1228954" rtl="0" eaLnBrk="1" latinLnBrk="0" hangingPunct="1">
      <a:defRPr sz="1613" kern="1200">
        <a:solidFill>
          <a:schemeClr val="tx1"/>
        </a:solidFill>
        <a:latin typeface="+mn-lt"/>
        <a:ea typeface="+mn-ea"/>
        <a:cs typeface="+mn-cs"/>
      </a:defRPr>
    </a:lvl6pPr>
    <a:lvl7pPr marL="3686861" algn="l" defTabSz="1228954" rtl="0" eaLnBrk="1" latinLnBrk="0" hangingPunct="1">
      <a:defRPr sz="1613" kern="1200">
        <a:solidFill>
          <a:schemeClr val="tx1"/>
        </a:solidFill>
        <a:latin typeface="+mn-lt"/>
        <a:ea typeface="+mn-ea"/>
        <a:cs typeface="+mn-cs"/>
      </a:defRPr>
    </a:lvl7pPr>
    <a:lvl8pPr marL="4301338" algn="l" defTabSz="1228954" rtl="0" eaLnBrk="1" latinLnBrk="0" hangingPunct="1">
      <a:defRPr sz="1613" kern="1200">
        <a:solidFill>
          <a:schemeClr val="tx1"/>
        </a:solidFill>
        <a:latin typeface="+mn-lt"/>
        <a:ea typeface="+mn-ea"/>
        <a:cs typeface="+mn-cs"/>
      </a:defRPr>
    </a:lvl8pPr>
    <a:lvl9pPr marL="4915814" algn="l" defTabSz="1228954" rtl="0" eaLnBrk="1" latinLnBrk="0" hangingPunct="1">
      <a:defRPr sz="161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52463" y="1143000"/>
            <a:ext cx="5553075" cy="30861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E1AF2CE-5393-4CF7-918F-03DA7A602E67}" type="slidenum">
              <a:rPr lang="en-US" smtClean="0"/>
              <a:t>1</a:t>
            </a:fld>
            <a:endParaRPr lang="en-US"/>
          </a:p>
        </p:txBody>
      </p:sp>
    </p:spTree>
    <p:extLst>
      <p:ext uri="{BB962C8B-B14F-4D97-AF65-F5344CB8AC3E}">
        <p14:creationId xmlns:p14="http://schemas.microsoft.com/office/powerpoint/2010/main" val="1075887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1496484"/>
            <a:ext cx="12344400" cy="3183467"/>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2057400" y="4802717"/>
            <a:ext cx="12344400" cy="2207683"/>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2915251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4874257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22998" y="2279652"/>
            <a:ext cx="14196060" cy="3803649"/>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1122998" y="6119285"/>
            <a:ext cx="14196060" cy="2000249"/>
          </a:xfrm>
        </p:spPr>
        <p:txBody>
          <a:bodyPr/>
          <a:lstStyle>
            <a:lvl1pPr marL="0" indent="0">
              <a:buNone/>
              <a:defRPr sz="3200">
                <a:solidFill>
                  <a:schemeClr val="tx1">
                    <a:tint val="82000"/>
                  </a:schemeClr>
                </a:solidFill>
              </a:defRPr>
            </a:lvl1pPr>
            <a:lvl2pPr marL="609585" indent="0">
              <a:buNone/>
              <a:defRPr sz="2667">
                <a:solidFill>
                  <a:schemeClr val="tx1">
                    <a:tint val="82000"/>
                  </a:schemeClr>
                </a:solidFill>
              </a:defRPr>
            </a:lvl2pPr>
            <a:lvl3pPr marL="1219170" indent="0">
              <a:buNone/>
              <a:defRPr sz="2400">
                <a:solidFill>
                  <a:schemeClr val="tx1">
                    <a:tint val="82000"/>
                  </a:schemeClr>
                </a:solidFill>
              </a:defRPr>
            </a:lvl3pPr>
            <a:lvl4pPr marL="1828754" indent="0">
              <a:buNone/>
              <a:defRPr sz="2133">
                <a:solidFill>
                  <a:schemeClr val="tx1">
                    <a:tint val="82000"/>
                  </a:schemeClr>
                </a:solidFill>
              </a:defRPr>
            </a:lvl4pPr>
            <a:lvl5pPr marL="2438339" indent="0">
              <a:buNone/>
              <a:defRPr sz="2133">
                <a:solidFill>
                  <a:schemeClr val="tx1">
                    <a:tint val="82000"/>
                  </a:schemeClr>
                </a:solidFill>
              </a:defRPr>
            </a:lvl5pPr>
            <a:lvl6pPr marL="3047924" indent="0">
              <a:buNone/>
              <a:defRPr sz="2133">
                <a:solidFill>
                  <a:schemeClr val="tx1">
                    <a:tint val="82000"/>
                  </a:schemeClr>
                </a:solidFill>
              </a:defRPr>
            </a:lvl6pPr>
            <a:lvl7pPr marL="3657509" indent="0">
              <a:buNone/>
              <a:defRPr sz="2133">
                <a:solidFill>
                  <a:schemeClr val="tx1">
                    <a:tint val="82000"/>
                  </a:schemeClr>
                </a:solidFill>
              </a:defRPr>
            </a:lvl7pPr>
            <a:lvl8pPr marL="4267093" indent="0">
              <a:buNone/>
              <a:defRPr sz="2133">
                <a:solidFill>
                  <a:schemeClr val="tx1">
                    <a:tint val="82000"/>
                  </a:schemeClr>
                </a:solidFill>
              </a:defRPr>
            </a:lvl8pPr>
            <a:lvl9pPr marL="4876678" indent="0">
              <a:buNone/>
              <a:defRPr sz="213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9A64A8-8B6E-4B03-ADC8-C791F8FADDB9}"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977758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31570" y="2434167"/>
            <a:ext cx="699516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8332470" y="2434167"/>
            <a:ext cx="699516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9A64A8-8B6E-4B03-ADC8-C791F8FADDB9}"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0116030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33714" y="486834"/>
            <a:ext cx="1419606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33715" y="2241551"/>
            <a:ext cx="6963012" cy="109854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1133715" y="3340100"/>
            <a:ext cx="6963012"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8332470" y="2241551"/>
            <a:ext cx="6997304" cy="109854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8332470" y="3340100"/>
            <a:ext cx="6997304"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59A64A8-8B6E-4B03-ADC8-C791F8FADDB9}" type="datetimeFigureOut">
              <a:rPr lang="en-US" smtClean="0"/>
              <a:t>4/17/2026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5980110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59A64A8-8B6E-4B03-ADC8-C791F8FADDB9}" type="datetimeFigureOut">
              <a:rPr lang="en-US" smtClean="0"/>
              <a:t>4/17/2026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4253843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9A64A8-8B6E-4B03-ADC8-C791F8FADDB9}" type="datetimeFigureOut">
              <a:rPr lang="en-US" smtClean="0"/>
              <a:t>4/17/2026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321508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33714" y="609600"/>
            <a:ext cx="5308520" cy="2133600"/>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6997304" y="1316567"/>
            <a:ext cx="8332470" cy="6498167"/>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33714" y="2743200"/>
            <a:ext cx="5308520" cy="5082117"/>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659A64A8-8B6E-4B03-ADC8-C791F8FADDB9}"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1256855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33714" y="609600"/>
            <a:ext cx="5308520" cy="2133600"/>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6997304" y="1316567"/>
            <a:ext cx="8332470" cy="6498167"/>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1133714" y="2743200"/>
            <a:ext cx="5308520" cy="5082117"/>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659A64A8-8B6E-4B03-ADC8-C791F8FADDB9}"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762151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8258631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778615" y="486834"/>
            <a:ext cx="3549015"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31570" y="486834"/>
            <a:ext cx="10441305"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8023841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31570" y="486834"/>
            <a:ext cx="1419606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31570" y="2434167"/>
            <a:ext cx="1419606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31570" y="8475134"/>
            <a:ext cx="3703320" cy="486833"/>
          </a:xfrm>
          <a:prstGeom prst="rect">
            <a:avLst/>
          </a:prstGeom>
        </p:spPr>
        <p:txBody>
          <a:bodyPr vert="horz" lIns="91440" tIns="45720" rIns="91440" bIns="45720" rtlCol="0" anchor="ctr"/>
          <a:lstStyle>
            <a:lvl1pPr algn="l">
              <a:defRPr sz="1600">
                <a:solidFill>
                  <a:schemeClr val="tx1">
                    <a:tint val="82000"/>
                  </a:schemeClr>
                </a:solidFill>
              </a:defRPr>
            </a:lvl1pPr>
          </a:lstStyle>
          <a:p>
            <a:fld id="{659A64A8-8B6E-4B03-ADC8-C791F8FADDB9}" type="datetimeFigureOut">
              <a:rPr lang="en-US" smtClean="0"/>
              <a:t>4/17/2026</a:t>
            </a:fld>
            <a:endParaRPr lang="en-US"/>
          </a:p>
        </p:txBody>
      </p:sp>
      <p:sp>
        <p:nvSpPr>
          <p:cNvPr id="5" name="Footer Placeholder 4"/>
          <p:cNvSpPr>
            <a:spLocks noGrp="1"/>
          </p:cNvSpPr>
          <p:nvPr>
            <p:ph type="ftr" sz="quarter" idx="3"/>
          </p:nvPr>
        </p:nvSpPr>
        <p:spPr>
          <a:xfrm>
            <a:off x="5452110" y="8475134"/>
            <a:ext cx="5554980" cy="486833"/>
          </a:xfrm>
          <a:prstGeom prst="rect">
            <a:avLst/>
          </a:prstGeom>
        </p:spPr>
        <p:txBody>
          <a:bodyPr vert="horz" lIns="91440" tIns="45720" rIns="91440" bIns="45720" rtlCol="0" anchor="ctr"/>
          <a:lstStyle>
            <a:lvl1pPr algn="ctr">
              <a:defRPr sz="16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1624310" y="8475134"/>
            <a:ext cx="3703320" cy="486833"/>
          </a:xfrm>
          <a:prstGeom prst="rect">
            <a:avLst/>
          </a:prstGeom>
        </p:spPr>
        <p:txBody>
          <a:bodyPr vert="horz" lIns="91440" tIns="45720" rIns="91440" bIns="45720" rtlCol="0" anchor="ctr"/>
          <a:lstStyle>
            <a:lvl1pPr algn="r">
              <a:defRPr sz="1600">
                <a:solidFill>
                  <a:schemeClr val="tx1">
                    <a:tint val="82000"/>
                  </a:schemeClr>
                </a:solidFill>
              </a:defRPr>
            </a:lvl1pPr>
          </a:lstStyle>
          <a:p>
            <a:fld id="{43F09F9A-A716-496E-A332-CC078932D420}" type="slidenum">
              <a:rPr lang="en-US" smtClean="0"/>
              <a:t>‹#›</a:t>
            </a:fld>
            <a:endParaRPr lang="en-US"/>
          </a:p>
        </p:txBody>
      </p:sp>
    </p:spTree>
    <p:extLst>
      <p:ext uri="{BB962C8B-B14F-4D97-AF65-F5344CB8AC3E}">
        <p14:creationId xmlns:p14="http://schemas.microsoft.com/office/powerpoint/2010/main" val="64817964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Box 193">
            <a:extLst>
              <a:ext uri="{FF2B5EF4-FFF2-40B4-BE49-F238E27FC236}">
                <a16:creationId xmlns:a16="http://schemas.microsoft.com/office/drawing/2014/main" id="{3DD8FB18-CC73-595E-CF74-69126B6D73FD}"/>
              </a:ext>
            </a:extLst>
          </p:cNvPr>
          <p:cNvSpPr txBox="1"/>
          <p:nvPr/>
        </p:nvSpPr>
        <p:spPr>
          <a:xfrm rot="16200000">
            <a:off x="2576688" y="5029080"/>
            <a:ext cx="1846659" cy="5785382"/>
          </a:xfrm>
          <a:prstGeom prst="rect">
            <a:avLst/>
          </a:prstGeom>
          <a:noFill/>
        </p:spPr>
        <p:txBody>
          <a:bodyPr vert="eaVert" wrap="square" rtlCol="0">
            <a:spAutoFit/>
          </a:bodyPr>
          <a:lstStyle/>
          <a:p>
            <a:r>
              <a:rPr lang="en-US" sz="1200" dirty="0"/>
              <a:t>The center orange-colored </a:t>
            </a:r>
            <a:r>
              <a:rPr lang="en-US" sz="1200" b="1" dirty="0">
                <a:solidFill>
                  <a:srgbClr val="FFC000"/>
                </a:solidFill>
              </a:rPr>
              <a:t>Public_GitHub </a:t>
            </a:r>
            <a:r>
              <a:rPr lang="en-US" sz="1200" dirty="0"/>
              <a:t>branch is public, everything else is private (local or in an internally managed remote, like GitLab for UM). Public can be merged into private side, but private branches must be squash merged into public.</a:t>
            </a:r>
          </a:p>
          <a:p>
            <a:endParaRPr lang="en-US" sz="1200" dirty="0"/>
          </a:p>
          <a:p>
            <a:r>
              <a:rPr lang="en-US" sz="1200" dirty="0"/>
              <a:t>Solid line indicate parent child relationship, </a:t>
            </a:r>
          </a:p>
          <a:p>
            <a:r>
              <a:rPr lang="en-US" sz="1200" dirty="0"/>
              <a:t>Dotted line (only in Squash merge, which doesn’t create parent child relationship.</a:t>
            </a:r>
            <a:br>
              <a:rPr lang="en-US" sz="1200" dirty="0"/>
            </a:br>
            <a:br>
              <a:rPr lang="en-US" sz="1200" dirty="0"/>
            </a:br>
            <a:r>
              <a:rPr lang="en-US" sz="1200" dirty="0"/>
              <a:t>M is for typical merge</a:t>
            </a:r>
          </a:p>
          <a:p>
            <a:r>
              <a:rPr lang="en-US" sz="1200" dirty="0"/>
              <a:t>S is for squash merge</a:t>
            </a:r>
          </a:p>
        </p:txBody>
      </p:sp>
      <p:grpSp>
        <p:nvGrpSpPr>
          <p:cNvPr id="10" name="Group 9">
            <a:extLst>
              <a:ext uri="{FF2B5EF4-FFF2-40B4-BE49-F238E27FC236}">
                <a16:creationId xmlns:a16="http://schemas.microsoft.com/office/drawing/2014/main" id="{C7097FCC-E5EA-2A78-AE1E-0AB464E28F7D}"/>
              </a:ext>
            </a:extLst>
          </p:cNvPr>
          <p:cNvGrpSpPr/>
          <p:nvPr/>
        </p:nvGrpSpPr>
        <p:grpSpPr>
          <a:xfrm>
            <a:off x="313494" y="238336"/>
            <a:ext cx="15832211" cy="6675554"/>
            <a:chOff x="387737" y="416755"/>
            <a:chExt cx="15832211" cy="6675554"/>
          </a:xfrm>
        </p:grpSpPr>
        <p:cxnSp>
          <p:nvCxnSpPr>
            <p:cNvPr id="157" name="Straight Arrow Connector 156">
              <a:extLst>
                <a:ext uri="{FF2B5EF4-FFF2-40B4-BE49-F238E27FC236}">
                  <a16:creationId xmlns:a16="http://schemas.microsoft.com/office/drawing/2014/main" id="{3238DDBD-F89E-99F4-BF88-47667FA1A516}"/>
                </a:ext>
              </a:extLst>
            </p:cNvPr>
            <p:cNvCxnSpPr>
              <a:cxnSpLocks/>
              <a:stCxn id="146" idx="0"/>
              <a:endCxn id="163" idx="4"/>
            </p:cNvCxnSpPr>
            <p:nvPr/>
          </p:nvCxnSpPr>
          <p:spPr>
            <a:xfrm flipV="1">
              <a:off x="8393411" y="1283934"/>
              <a:ext cx="630392" cy="1746356"/>
            </a:xfrm>
            <a:prstGeom prst="straightConnector1">
              <a:avLst/>
            </a:prstGeom>
            <a:ln w="25400">
              <a:solidFill>
                <a:srgbClr val="00B0F0">
                  <a:alpha val="30000"/>
                </a:srgbClr>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9" name="Straight Arrow Connector 38">
              <a:extLst>
                <a:ext uri="{FF2B5EF4-FFF2-40B4-BE49-F238E27FC236}">
                  <a16:creationId xmlns:a16="http://schemas.microsoft.com/office/drawing/2014/main" id="{5F58D070-964B-0876-5D5E-28021CD78170}"/>
                </a:ext>
              </a:extLst>
            </p:cNvPr>
            <p:cNvCxnSpPr>
              <a:cxnSpLocks/>
              <a:endCxn id="50" idx="4"/>
            </p:cNvCxnSpPr>
            <p:nvPr/>
          </p:nvCxnSpPr>
          <p:spPr>
            <a:xfrm flipH="1" flipV="1">
              <a:off x="973607" y="1267414"/>
              <a:ext cx="1791" cy="2297670"/>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47" name="Straight Connector 46">
              <a:extLst>
                <a:ext uri="{FF2B5EF4-FFF2-40B4-BE49-F238E27FC236}">
                  <a16:creationId xmlns:a16="http://schemas.microsoft.com/office/drawing/2014/main" id="{610044B8-FA0E-0F8A-6CFF-FA5B22DB8704}"/>
                </a:ext>
              </a:extLst>
            </p:cNvPr>
            <p:cNvCxnSpPr>
              <a:cxnSpLocks/>
            </p:cNvCxnSpPr>
            <p:nvPr/>
          </p:nvCxnSpPr>
          <p:spPr>
            <a:xfrm>
              <a:off x="1071921" y="1037430"/>
              <a:ext cx="14064001"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30" name="Straight Connector 29">
              <a:extLst>
                <a:ext uri="{FF2B5EF4-FFF2-40B4-BE49-F238E27FC236}">
                  <a16:creationId xmlns:a16="http://schemas.microsoft.com/office/drawing/2014/main" id="{63A5C08A-2214-EB8C-06C4-48462ABC079A}"/>
                </a:ext>
              </a:extLst>
            </p:cNvPr>
            <p:cNvCxnSpPr>
              <a:cxnSpLocks/>
            </p:cNvCxnSpPr>
            <p:nvPr/>
          </p:nvCxnSpPr>
          <p:spPr>
            <a:xfrm>
              <a:off x="1189873" y="6635758"/>
              <a:ext cx="14057561"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9" name="Straight Connector 28">
              <a:extLst>
                <a:ext uri="{FF2B5EF4-FFF2-40B4-BE49-F238E27FC236}">
                  <a16:creationId xmlns:a16="http://schemas.microsoft.com/office/drawing/2014/main" id="{703C73CF-A712-783F-C52E-C03874E252A0}"/>
                </a:ext>
              </a:extLst>
            </p:cNvPr>
            <p:cNvCxnSpPr>
              <a:cxnSpLocks/>
            </p:cNvCxnSpPr>
            <p:nvPr/>
          </p:nvCxnSpPr>
          <p:spPr>
            <a:xfrm>
              <a:off x="3800408" y="2166619"/>
              <a:ext cx="11276041"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7" name="Straight Connector 26">
              <a:extLst>
                <a:ext uri="{FF2B5EF4-FFF2-40B4-BE49-F238E27FC236}">
                  <a16:creationId xmlns:a16="http://schemas.microsoft.com/office/drawing/2014/main" id="{A3C5CBFF-2D96-DAF2-DB70-6C3CBDD28B8E}"/>
                </a:ext>
              </a:extLst>
            </p:cNvPr>
            <p:cNvCxnSpPr>
              <a:cxnSpLocks/>
            </p:cNvCxnSpPr>
            <p:nvPr/>
          </p:nvCxnSpPr>
          <p:spPr>
            <a:xfrm>
              <a:off x="1104134" y="3246935"/>
              <a:ext cx="14031788" cy="20535"/>
            </a:xfrm>
            <a:prstGeom prst="line">
              <a:avLst/>
            </a:prstGeom>
            <a:ln w="76200">
              <a:solidFill>
                <a:srgbClr val="FFC000"/>
              </a:solidFill>
            </a:ln>
          </p:spPr>
          <p:style>
            <a:lnRef idx="3">
              <a:schemeClr val="accent1"/>
            </a:lnRef>
            <a:fillRef idx="0">
              <a:schemeClr val="accent1"/>
            </a:fillRef>
            <a:effectRef idx="2">
              <a:schemeClr val="accent1"/>
            </a:effectRef>
            <a:fontRef idx="minor">
              <a:schemeClr val="tx1"/>
            </a:fontRef>
          </p:style>
        </p:cxnSp>
        <p:sp>
          <p:nvSpPr>
            <p:cNvPr id="6" name="Oval 5">
              <a:extLst>
                <a:ext uri="{FF2B5EF4-FFF2-40B4-BE49-F238E27FC236}">
                  <a16:creationId xmlns:a16="http://schemas.microsoft.com/office/drawing/2014/main" id="{1937B6E7-0AF4-218E-002A-F092E08AE980}"/>
                </a:ext>
              </a:extLst>
            </p:cNvPr>
            <p:cNvSpPr/>
            <p:nvPr/>
          </p:nvSpPr>
          <p:spPr>
            <a:xfrm>
              <a:off x="3699993" y="194351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7" name="Oval 6">
              <a:extLst>
                <a:ext uri="{FF2B5EF4-FFF2-40B4-BE49-F238E27FC236}">
                  <a16:creationId xmlns:a16="http://schemas.microsoft.com/office/drawing/2014/main" id="{464A3BE8-3598-8D3D-9B7F-5D2882A80D12}"/>
                </a:ext>
              </a:extLst>
            </p:cNvPr>
            <p:cNvSpPr/>
            <p:nvPr/>
          </p:nvSpPr>
          <p:spPr>
            <a:xfrm>
              <a:off x="2172921" y="641949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D</a:t>
              </a:r>
            </a:p>
          </p:txBody>
        </p:sp>
        <p:sp>
          <p:nvSpPr>
            <p:cNvPr id="32" name="TextBox 31">
              <a:extLst>
                <a:ext uri="{FF2B5EF4-FFF2-40B4-BE49-F238E27FC236}">
                  <a16:creationId xmlns:a16="http://schemas.microsoft.com/office/drawing/2014/main" id="{007A2CFD-953C-1936-CE1A-2493F84B4236}"/>
                </a:ext>
              </a:extLst>
            </p:cNvPr>
            <p:cNvSpPr txBox="1"/>
            <p:nvPr/>
          </p:nvSpPr>
          <p:spPr>
            <a:xfrm>
              <a:off x="13108069" y="3383761"/>
              <a:ext cx="2504038" cy="338554"/>
            </a:xfrm>
            <a:prstGeom prst="rect">
              <a:avLst/>
            </a:prstGeom>
            <a:noFill/>
          </p:spPr>
          <p:txBody>
            <a:bodyPr wrap="square" rtlCol="0">
              <a:spAutoFit/>
            </a:bodyPr>
            <a:lstStyle/>
            <a:p>
              <a:r>
                <a:rPr lang="en-US" sz="1600" dirty="0"/>
                <a:t>Public_GitHub (GitHub)</a:t>
              </a:r>
            </a:p>
          </p:txBody>
        </p:sp>
        <p:sp>
          <p:nvSpPr>
            <p:cNvPr id="33" name="TextBox 32">
              <a:extLst>
                <a:ext uri="{FF2B5EF4-FFF2-40B4-BE49-F238E27FC236}">
                  <a16:creationId xmlns:a16="http://schemas.microsoft.com/office/drawing/2014/main" id="{1DE432A2-5B2F-3C62-5E9B-077B044DF5DB}"/>
                </a:ext>
              </a:extLst>
            </p:cNvPr>
            <p:cNvSpPr txBox="1"/>
            <p:nvPr/>
          </p:nvSpPr>
          <p:spPr>
            <a:xfrm>
              <a:off x="13344912" y="6310922"/>
              <a:ext cx="2000615" cy="338554"/>
            </a:xfrm>
            <a:prstGeom prst="rect">
              <a:avLst/>
            </a:prstGeom>
            <a:noFill/>
          </p:spPr>
          <p:txBody>
            <a:bodyPr wrap="square" rtlCol="0">
              <a:spAutoFit/>
            </a:bodyPr>
            <a:lstStyle/>
            <a:p>
              <a:r>
                <a:rPr lang="en-US" sz="1600" dirty="0"/>
                <a:t>develop2 (GitLab/…)</a:t>
              </a:r>
            </a:p>
          </p:txBody>
        </p:sp>
        <p:sp>
          <p:nvSpPr>
            <p:cNvPr id="34" name="TextBox 33">
              <a:extLst>
                <a:ext uri="{FF2B5EF4-FFF2-40B4-BE49-F238E27FC236}">
                  <a16:creationId xmlns:a16="http://schemas.microsoft.com/office/drawing/2014/main" id="{6A5F3BD5-6AA5-EA8F-1F2E-E22E3E203184}"/>
                </a:ext>
              </a:extLst>
            </p:cNvPr>
            <p:cNvSpPr txBox="1"/>
            <p:nvPr/>
          </p:nvSpPr>
          <p:spPr>
            <a:xfrm>
              <a:off x="13206041" y="740912"/>
              <a:ext cx="2000615" cy="338554"/>
            </a:xfrm>
            <a:prstGeom prst="rect">
              <a:avLst/>
            </a:prstGeom>
            <a:noFill/>
          </p:spPr>
          <p:txBody>
            <a:bodyPr wrap="square" rtlCol="0">
              <a:spAutoFit/>
            </a:bodyPr>
            <a:lstStyle/>
            <a:p>
              <a:r>
                <a:rPr lang="en-US" sz="1600" dirty="0"/>
                <a:t>develop1 (GitLab/…)</a:t>
              </a:r>
            </a:p>
          </p:txBody>
        </p:sp>
        <p:sp>
          <p:nvSpPr>
            <p:cNvPr id="5" name="Oval 4">
              <a:extLst>
                <a:ext uri="{FF2B5EF4-FFF2-40B4-BE49-F238E27FC236}">
                  <a16:creationId xmlns:a16="http://schemas.microsoft.com/office/drawing/2014/main" id="{B2CA0F2B-8C2F-F348-6B6F-38AA5EEBACD9}"/>
                </a:ext>
              </a:extLst>
            </p:cNvPr>
            <p:cNvSpPr/>
            <p:nvPr/>
          </p:nvSpPr>
          <p:spPr>
            <a:xfrm>
              <a:off x="759132" y="303712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sp>
          <p:nvSpPr>
            <p:cNvPr id="36" name="Oval 35">
              <a:extLst>
                <a:ext uri="{FF2B5EF4-FFF2-40B4-BE49-F238E27FC236}">
                  <a16:creationId xmlns:a16="http://schemas.microsoft.com/office/drawing/2014/main" id="{DE7EFEC5-2B1B-35A5-FC67-5E8A0D7BFA32}"/>
                </a:ext>
              </a:extLst>
            </p:cNvPr>
            <p:cNvSpPr/>
            <p:nvPr/>
          </p:nvSpPr>
          <p:spPr>
            <a:xfrm>
              <a:off x="2459395" y="83488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B</a:t>
              </a:r>
            </a:p>
          </p:txBody>
        </p:sp>
        <p:sp>
          <p:nvSpPr>
            <p:cNvPr id="37" name="Oval 36">
              <a:extLst>
                <a:ext uri="{FF2B5EF4-FFF2-40B4-BE49-F238E27FC236}">
                  <a16:creationId xmlns:a16="http://schemas.microsoft.com/office/drawing/2014/main" id="{69658753-D8BF-2109-AE7C-E9FB0E08E51F}"/>
                </a:ext>
              </a:extLst>
            </p:cNvPr>
            <p:cNvSpPr/>
            <p:nvPr/>
          </p:nvSpPr>
          <p:spPr>
            <a:xfrm>
              <a:off x="759132" y="641949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cxnSp>
          <p:nvCxnSpPr>
            <p:cNvPr id="40" name="Straight Arrow Connector 39">
              <a:extLst>
                <a:ext uri="{FF2B5EF4-FFF2-40B4-BE49-F238E27FC236}">
                  <a16:creationId xmlns:a16="http://schemas.microsoft.com/office/drawing/2014/main" id="{6076E671-DC9A-CD26-41D7-8C0DED02BC13}"/>
                </a:ext>
              </a:extLst>
            </p:cNvPr>
            <p:cNvCxnSpPr>
              <a:cxnSpLocks/>
              <a:stCxn id="5" idx="4"/>
              <a:endCxn id="37" idx="0"/>
            </p:cNvCxnSpPr>
            <p:nvPr/>
          </p:nvCxnSpPr>
          <p:spPr>
            <a:xfrm>
              <a:off x="975398" y="3469658"/>
              <a:ext cx="0" cy="294983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4" name="TextBox 43">
              <a:extLst>
                <a:ext uri="{FF2B5EF4-FFF2-40B4-BE49-F238E27FC236}">
                  <a16:creationId xmlns:a16="http://schemas.microsoft.com/office/drawing/2014/main" id="{F06B6F8F-B549-844F-9AA4-43A9EBA0FD8E}"/>
                </a:ext>
              </a:extLst>
            </p:cNvPr>
            <p:cNvSpPr txBox="1"/>
            <p:nvPr/>
          </p:nvSpPr>
          <p:spPr>
            <a:xfrm rot="16200000">
              <a:off x="466124" y="2116046"/>
              <a:ext cx="430887" cy="587661"/>
            </a:xfrm>
            <a:prstGeom prst="rect">
              <a:avLst/>
            </a:prstGeom>
            <a:noFill/>
          </p:spPr>
          <p:txBody>
            <a:bodyPr vert="eaVert" wrap="none" rtlCol="0">
              <a:spAutoFit/>
            </a:bodyPr>
            <a:lstStyle/>
            <a:p>
              <a:r>
                <a:rPr lang="en-US" sz="1600" dirty="0"/>
                <a:t>clone</a:t>
              </a:r>
            </a:p>
          </p:txBody>
        </p:sp>
        <p:sp>
          <p:nvSpPr>
            <p:cNvPr id="45" name="TextBox 44">
              <a:extLst>
                <a:ext uri="{FF2B5EF4-FFF2-40B4-BE49-F238E27FC236}">
                  <a16:creationId xmlns:a16="http://schemas.microsoft.com/office/drawing/2014/main" id="{19AD9C7D-EBE3-49FE-0983-28108198C92A}"/>
                </a:ext>
              </a:extLst>
            </p:cNvPr>
            <p:cNvSpPr txBox="1"/>
            <p:nvPr/>
          </p:nvSpPr>
          <p:spPr>
            <a:xfrm rot="16200000">
              <a:off x="466124" y="4935442"/>
              <a:ext cx="430887" cy="587661"/>
            </a:xfrm>
            <a:prstGeom prst="rect">
              <a:avLst/>
            </a:prstGeom>
            <a:noFill/>
          </p:spPr>
          <p:txBody>
            <a:bodyPr vert="eaVert" wrap="none" rtlCol="0">
              <a:spAutoFit/>
            </a:bodyPr>
            <a:lstStyle/>
            <a:p>
              <a:r>
                <a:rPr lang="en-US" sz="1600" dirty="0"/>
                <a:t>clone</a:t>
              </a:r>
            </a:p>
          </p:txBody>
        </p:sp>
        <p:sp>
          <p:nvSpPr>
            <p:cNvPr id="48" name="Oval 47">
              <a:extLst>
                <a:ext uri="{FF2B5EF4-FFF2-40B4-BE49-F238E27FC236}">
                  <a16:creationId xmlns:a16="http://schemas.microsoft.com/office/drawing/2014/main" id="{2C43E845-A513-F6CA-E809-C037289B49AF}"/>
                </a:ext>
              </a:extLst>
            </p:cNvPr>
            <p:cNvSpPr/>
            <p:nvPr/>
          </p:nvSpPr>
          <p:spPr>
            <a:xfrm>
              <a:off x="1663792" y="82879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A</a:t>
              </a:r>
            </a:p>
          </p:txBody>
        </p:sp>
        <p:sp>
          <p:nvSpPr>
            <p:cNvPr id="49" name="Oval 48">
              <a:extLst>
                <a:ext uri="{FF2B5EF4-FFF2-40B4-BE49-F238E27FC236}">
                  <a16:creationId xmlns:a16="http://schemas.microsoft.com/office/drawing/2014/main" id="{50DBA51E-7C3C-A632-D795-F50D863DCABB}"/>
                </a:ext>
              </a:extLst>
            </p:cNvPr>
            <p:cNvSpPr/>
            <p:nvPr/>
          </p:nvSpPr>
          <p:spPr>
            <a:xfrm>
              <a:off x="3295981" y="8461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C</a:t>
              </a:r>
            </a:p>
          </p:txBody>
        </p:sp>
        <p:sp>
          <p:nvSpPr>
            <p:cNvPr id="50" name="Oval 49">
              <a:extLst>
                <a:ext uri="{FF2B5EF4-FFF2-40B4-BE49-F238E27FC236}">
                  <a16:creationId xmlns:a16="http://schemas.microsoft.com/office/drawing/2014/main" id="{C5B7D523-7771-0C7A-3212-3ECE537E755F}"/>
                </a:ext>
              </a:extLst>
            </p:cNvPr>
            <p:cNvSpPr/>
            <p:nvPr/>
          </p:nvSpPr>
          <p:spPr>
            <a:xfrm>
              <a:off x="757341" y="83488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sp>
          <p:nvSpPr>
            <p:cNvPr id="57" name="TextBox 56">
              <a:extLst>
                <a:ext uri="{FF2B5EF4-FFF2-40B4-BE49-F238E27FC236}">
                  <a16:creationId xmlns:a16="http://schemas.microsoft.com/office/drawing/2014/main" id="{78D27DE0-9105-8436-67F6-18907C90896C}"/>
                </a:ext>
              </a:extLst>
            </p:cNvPr>
            <p:cNvSpPr txBox="1"/>
            <p:nvPr/>
          </p:nvSpPr>
          <p:spPr>
            <a:xfrm>
              <a:off x="13233267" y="1834772"/>
              <a:ext cx="2000615" cy="338554"/>
            </a:xfrm>
            <a:prstGeom prst="rect">
              <a:avLst/>
            </a:prstGeom>
            <a:noFill/>
          </p:spPr>
          <p:txBody>
            <a:bodyPr wrap="square" rtlCol="0">
              <a:spAutoFit/>
            </a:bodyPr>
            <a:lstStyle/>
            <a:p>
              <a:r>
                <a:rPr lang="en-US" sz="1600" dirty="0"/>
                <a:t>ForGitHub (GitLab)</a:t>
              </a:r>
            </a:p>
          </p:txBody>
        </p:sp>
        <p:cxnSp>
          <p:nvCxnSpPr>
            <p:cNvPr id="59" name="Straight Arrow Connector 58">
              <a:extLst>
                <a:ext uri="{FF2B5EF4-FFF2-40B4-BE49-F238E27FC236}">
                  <a16:creationId xmlns:a16="http://schemas.microsoft.com/office/drawing/2014/main" id="{7F8C5F87-B58A-721B-F4F8-CC82DC371D62}"/>
                </a:ext>
              </a:extLst>
            </p:cNvPr>
            <p:cNvCxnSpPr>
              <a:cxnSpLocks/>
              <a:stCxn id="50" idx="5"/>
              <a:endCxn id="6" idx="2"/>
            </p:cNvCxnSpPr>
            <p:nvPr/>
          </p:nvCxnSpPr>
          <p:spPr>
            <a:xfrm>
              <a:off x="1126530" y="1204071"/>
              <a:ext cx="2573463" cy="955711"/>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60" name="TextBox 59">
              <a:extLst>
                <a:ext uri="{FF2B5EF4-FFF2-40B4-BE49-F238E27FC236}">
                  <a16:creationId xmlns:a16="http://schemas.microsoft.com/office/drawing/2014/main" id="{C9B42FB4-F91B-D1B2-71CD-FB1B8312C85B}"/>
                </a:ext>
              </a:extLst>
            </p:cNvPr>
            <p:cNvSpPr txBox="1"/>
            <p:nvPr/>
          </p:nvSpPr>
          <p:spPr>
            <a:xfrm>
              <a:off x="3728513" y="1997342"/>
              <a:ext cx="481869" cy="338554"/>
            </a:xfrm>
            <a:prstGeom prst="rect">
              <a:avLst/>
            </a:prstGeom>
            <a:noFill/>
          </p:spPr>
          <p:txBody>
            <a:bodyPr wrap="square" rtlCol="0">
              <a:spAutoFit/>
            </a:bodyPr>
            <a:lstStyle/>
            <a:p>
              <a:r>
                <a:rPr lang="en-US" sz="1600" b="1" dirty="0"/>
                <a:t>S1</a:t>
              </a:r>
            </a:p>
          </p:txBody>
        </p:sp>
        <p:cxnSp>
          <p:nvCxnSpPr>
            <p:cNvPr id="64" name="Straight Arrow Connector 63">
              <a:extLst>
                <a:ext uri="{FF2B5EF4-FFF2-40B4-BE49-F238E27FC236}">
                  <a16:creationId xmlns:a16="http://schemas.microsoft.com/office/drawing/2014/main" id="{8C744532-98CE-413C-F793-4EF872C8E46B}"/>
                </a:ext>
              </a:extLst>
            </p:cNvPr>
            <p:cNvCxnSpPr>
              <a:cxnSpLocks/>
              <a:stCxn id="49" idx="4"/>
              <a:endCxn id="6" idx="0"/>
            </p:cNvCxnSpPr>
            <p:nvPr/>
          </p:nvCxnSpPr>
          <p:spPr>
            <a:xfrm>
              <a:off x="3512247" y="1278703"/>
              <a:ext cx="404012" cy="664813"/>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6" name="TextBox 65">
              <a:extLst>
                <a:ext uri="{FF2B5EF4-FFF2-40B4-BE49-F238E27FC236}">
                  <a16:creationId xmlns:a16="http://schemas.microsoft.com/office/drawing/2014/main" id="{CCC86C0C-A3FD-879B-83E0-780561CB75C8}"/>
                </a:ext>
              </a:extLst>
            </p:cNvPr>
            <p:cNvSpPr txBox="1"/>
            <p:nvPr/>
          </p:nvSpPr>
          <p:spPr>
            <a:xfrm rot="16200000">
              <a:off x="5378471" y="-192885"/>
              <a:ext cx="738664" cy="3663088"/>
            </a:xfrm>
            <a:prstGeom prst="rect">
              <a:avLst/>
            </a:prstGeom>
            <a:noFill/>
          </p:spPr>
          <p:txBody>
            <a:bodyPr vert="eaVert" wrap="square" rtlCol="0">
              <a:spAutoFit/>
            </a:bodyPr>
            <a:lstStyle/>
            <a:p>
              <a:r>
                <a:rPr lang="en-US" sz="1200" dirty="0">
                  <a:solidFill>
                    <a:schemeClr val="accent2"/>
                  </a:solidFill>
                </a:rPr>
                <a:t>git merge –squash</a:t>
              </a:r>
              <a:br>
                <a:rPr lang="en-US" sz="1200" dirty="0">
                  <a:solidFill>
                    <a:schemeClr val="accent2"/>
                  </a:solidFill>
                </a:rPr>
              </a:br>
              <a:r>
                <a:rPr lang="en-US" sz="1200" dirty="0">
                  <a:solidFill>
                    <a:schemeClr val="accent2"/>
                  </a:solidFill>
                </a:rPr>
                <a:t>squash changes from A to C</a:t>
              </a:r>
              <a:br>
                <a:rPr lang="en-US" sz="1200" dirty="0">
                  <a:solidFill>
                    <a:schemeClr val="accent2"/>
                  </a:solidFill>
                </a:rPr>
              </a:br>
              <a:r>
                <a:rPr lang="en-US" sz="1200" dirty="0">
                  <a:solidFill>
                    <a:schemeClr val="accent2"/>
                  </a:solidFill>
                </a:rPr>
                <a:t>Create S1, whose only parent is O</a:t>
              </a:r>
            </a:p>
          </p:txBody>
        </p:sp>
        <p:cxnSp>
          <p:nvCxnSpPr>
            <p:cNvPr id="67" name="Straight Arrow Connector 66">
              <a:extLst>
                <a:ext uri="{FF2B5EF4-FFF2-40B4-BE49-F238E27FC236}">
                  <a16:creationId xmlns:a16="http://schemas.microsoft.com/office/drawing/2014/main" id="{3E472433-DDF3-4D3A-14FF-A094E6333AC0}"/>
                </a:ext>
              </a:extLst>
            </p:cNvPr>
            <p:cNvCxnSpPr>
              <a:cxnSpLocks/>
              <a:stCxn id="6" idx="4"/>
              <a:endCxn id="84" idx="0"/>
            </p:cNvCxnSpPr>
            <p:nvPr/>
          </p:nvCxnSpPr>
          <p:spPr>
            <a:xfrm>
              <a:off x="3916259" y="2376048"/>
              <a:ext cx="8390" cy="65792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71" name="TextBox 70">
              <a:extLst>
                <a:ext uri="{FF2B5EF4-FFF2-40B4-BE49-F238E27FC236}">
                  <a16:creationId xmlns:a16="http://schemas.microsoft.com/office/drawing/2014/main" id="{443A989B-9FF4-88DC-168C-FA341CCF8E81}"/>
                </a:ext>
              </a:extLst>
            </p:cNvPr>
            <p:cNvSpPr txBox="1"/>
            <p:nvPr/>
          </p:nvSpPr>
          <p:spPr>
            <a:xfrm rot="16200000">
              <a:off x="5097474" y="1151685"/>
              <a:ext cx="861774" cy="3147107"/>
            </a:xfrm>
            <a:prstGeom prst="rect">
              <a:avLst/>
            </a:prstGeom>
            <a:noFill/>
          </p:spPr>
          <p:txBody>
            <a:bodyPr vert="eaVert" wrap="square" rtlCol="0">
              <a:spAutoFit/>
            </a:bodyPr>
            <a:lstStyle/>
            <a:p>
              <a:r>
                <a:rPr lang="en-US" sz="1100" dirty="0"/>
                <a:t>Pull Request. If accept with merge (no squash) and the PR platform (i.e. GitHub) allows fast forward, this will result in Public_GitHub fast forwarded to S1. If not, a new merge commit S1’ will be created</a:t>
              </a:r>
            </a:p>
          </p:txBody>
        </p:sp>
        <p:sp>
          <p:nvSpPr>
            <p:cNvPr id="72" name="TextBox 71">
              <a:extLst>
                <a:ext uri="{FF2B5EF4-FFF2-40B4-BE49-F238E27FC236}">
                  <a16:creationId xmlns:a16="http://schemas.microsoft.com/office/drawing/2014/main" id="{FF07BDCF-9DEC-4B44-23D4-F443C1A8F0BF}"/>
                </a:ext>
              </a:extLst>
            </p:cNvPr>
            <p:cNvSpPr txBox="1"/>
            <p:nvPr/>
          </p:nvSpPr>
          <p:spPr>
            <a:xfrm>
              <a:off x="1330296" y="416755"/>
              <a:ext cx="2425037" cy="461665"/>
            </a:xfrm>
            <a:prstGeom prst="rect">
              <a:avLst/>
            </a:prstGeom>
            <a:noFill/>
          </p:spPr>
          <p:txBody>
            <a:bodyPr wrap="square" rtlCol="0">
              <a:spAutoFit/>
            </a:bodyPr>
            <a:lstStyle/>
            <a:p>
              <a:r>
                <a:rPr lang="en-US" sz="1200" dirty="0">
                  <a:solidFill>
                    <a:srgbClr val="FF0000"/>
                  </a:solidFill>
                </a:rPr>
                <a:t>dev commits A and B can be messy with PHI and secret</a:t>
              </a:r>
            </a:p>
          </p:txBody>
        </p:sp>
        <p:sp>
          <p:nvSpPr>
            <p:cNvPr id="73" name="TextBox 72">
              <a:extLst>
                <a:ext uri="{FF2B5EF4-FFF2-40B4-BE49-F238E27FC236}">
                  <a16:creationId xmlns:a16="http://schemas.microsoft.com/office/drawing/2014/main" id="{BA265142-CEB2-31B0-3F10-0B60A2B111B0}"/>
                </a:ext>
              </a:extLst>
            </p:cNvPr>
            <p:cNvSpPr txBox="1"/>
            <p:nvPr/>
          </p:nvSpPr>
          <p:spPr>
            <a:xfrm>
              <a:off x="3631058" y="496851"/>
              <a:ext cx="2000615" cy="461665"/>
            </a:xfrm>
            <a:prstGeom prst="rect">
              <a:avLst/>
            </a:prstGeom>
            <a:noFill/>
          </p:spPr>
          <p:txBody>
            <a:bodyPr wrap="square" rtlCol="0">
              <a:spAutoFit/>
            </a:bodyPr>
            <a:lstStyle/>
            <a:p>
              <a:r>
                <a:rPr lang="en-US" sz="1200" dirty="0">
                  <a:solidFill>
                    <a:srgbClr val="00B050"/>
                  </a:solidFill>
                </a:rPr>
                <a:t>C clean up mess in A and B</a:t>
              </a:r>
              <a:br>
                <a:rPr lang="en-US" sz="1200" dirty="0">
                  <a:solidFill>
                    <a:srgbClr val="00B050"/>
                  </a:solidFill>
                </a:rPr>
              </a:br>
              <a:r>
                <a:rPr lang="en-US" sz="1200" dirty="0">
                  <a:solidFill>
                    <a:srgbClr val="00B050"/>
                  </a:solidFill>
                </a:rPr>
                <a:t>and ready to publish</a:t>
              </a:r>
            </a:p>
          </p:txBody>
        </p:sp>
        <p:sp>
          <p:nvSpPr>
            <p:cNvPr id="84" name="Oval 83">
              <a:extLst>
                <a:ext uri="{FF2B5EF4-FFF2-40B4-BE49-F238E27FC236}">
                  <a16:creationId xmlns:a16="http://schemas.microsoft.com/office/drawing/2014/main" id="{B17AF149-3269-31E0-2586-7F1679C8C52B}"/>
                </a:ext>
              </a:extLst>
            </p:cNvPr>
            <p:cNvSpPr/>
            <p:nvPr/>
          </p:nvSpPr>
          <p:spPr>
            <a:xfrm>
              <a:off x="3708383" y="303397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85" name="TextBox 84">
              <a:extLst>
                <a:ext uri="{FF2B5EF4-FFF2-40B4-BE49-F238E27FC236}">
                  <a16:creationId xmlns:a16="http://schemas.microsoft.com/office/drawing/2014/main" id="{04BA6645-71FB-EBA0-DD2C-3D1239D82657}"/>
                </a:ext>
              </a:extLst>
            </p:cNvPr>
            <p:cNvSpPr txBox="1"/>
            <p:nvPr/>
          </p:nvSpPr>
          <p:spPr>
            <a:xfrm>
              <a:off x="3736903" y="3087798"/>
              <a:ext cx="481869" cy="338554"/>
            </a:xfrm>
            <a:prstGeom prst="rect">
              <a:avLst/>
            </a:prstGeom>
            <a:noFill/>
          </p:spPr>
          <p:txBody>
            <a:bodyPr wrap="square" rtlCol="0">
              <a:spAutoFit/>
            </a:bodyPr>
            <a:lstStyle/>
            <a:p>
              <a:r>
                <a:rPr lang="en-US" sz="1600" b="1" dirty="0"/>
                <a:t>S1</a:t>
              </a:r>
            </a:p>
          </p:txBody>
        </p:sp>
        <p:sp>
          <p:nvSpPr>
            <p:cNvPr id="86" name="Oval 85">
              <a:extLst>
                <a:ext uri="{FF2B5EF4-FFF2-40B4-BE49-F238E27FC236}">
                  <a16:creationId xmlns:a16="http://schemas.microsoft.com/office/drawing/2014/main" id="{E388C081-DDA4-84C0-2E20-7CA4753404A8}"/>
                </a:ext>
              </a:extLst>
            </p:cNvPr>
            <p:cNvSpPr/>
            <p:nvPr/>
          </p:nvSpPr>
          <p:spPr>
            <a:xfrm>
              <a:off x="3667637" y="6411009"/>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E</a:t>
              </a:r>
            </a:p>
          </p:txBody>
        </p:sp>
        <p:sp>
          <p:nvSpPr>
            <p:cNvPr id="87" name="Oval 86">
              <a:extLst>
                <a:ext uri="{FF2B5EF4-FFF2-40B4-BE49-F238E27FC236}">
                  <a16:creationId xmlns:a16="http://schemas.microsoft.com/office/drawing/2014/main" id="{5528800E-09CA-14D6-0BFC-236FC546752C}"/>
                </a:ext>
              </a:extLst>
            </p:cNvPr>
            <p:cNvSpPr/>
            <p:nvPr/>
          </p:nvSpPr>
          <p:spPr>
            <a:xfrm>
              <a:off x="5229333" y="641949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F</a:t>
              </a:r>
            </a:p>
          </p:txBody>
        </p:sp>
        <p:sp>
          <p:nvSpPr>
            <p:cNvPr id="96" name="TextBox 95">
              <a:extLst>
                <a:ext uri="{FF2B5EF4-FFF2-40B4-BE49-F238E27FC236}">
                  <a16:creationId xmlns:a16="http://schemas.microsoft.com/office/drawing/2014/main" id="{F260D1E6-72BE-37E6-6DE1-45DCA4BEF08A}"/>
                </a:ext>
              </a:extLst>
            </p:cNvPr>
            <p:cNvSpPr txBox="1"/>
            <p:nvPr/>
          </p:nvSpPr>
          <p:spPr>
            <a:xfrm>
              <a:off x="1874093" y="6815310"/>
              <a:ext cx="4392893" cy="276999"/>
            </a:xfrm>
            <a:prstGeom prst="rect">
              <a:avLst/>
            </a:prstGeom>
            <a:noFill/>
          </p:spPr>
          <p:txBody>
            <a:bodyPr wrap="square" rtlCol="0">
              <a:spAutoFit/>
            </a:bodyPr>
            <a:lstStyle/>
            <a:p>
              <a:r>
                <a:rPr lang="en-US" sz="1200" dirty="0">
                  <a:solidFill>
                    <a:srgbClr val="FF0000"/>
                  </a:solidFill>
                </a:rPr>
                <a:t>dev commits D, E, and F can be messy with PHI and secret</a:t>
              </a:r>
            </a:p>
          </p:txBody>
        </p:sp>
        <p:cxnSp>
          <p:nvCxnSpPr>
            <p:cNvPr id="97" name="Straight Connector 96">
              <a:extLst>
                <a:ext uri="{FF2B5EF4-FFF2-40B4-BE49-F238E27FC236}">
                  <a16:creationId xmlns:a16="http://schemas.microsoft.com/office/drawing/2014/main" id="{AD66EADC-D538-17F4-EB9A-E6370D3E7ECE}"/>
                </a:ext>
              </a:extLst>
            </p:cNvPr>
            <p:cNvCxnSpPr>
              <a:cxnSpLocks/>
            </p:cNvCxnSpPr>
            <p:nvPr/>
          </p:nvCxnSpPr>
          <p:spPr>
            <a:xfrm>
              <a:off x="5996833" y="5659137"/>
              <a:ext cx="9079616"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sp>
          <p:nvSpPr>
            <p:cNvPr id="99" name="Oval 98">
              <a:extLst>
                <a:ext uri="{FF2B5EF4-FFF2-40B4-BE49-F238E27FC236}">
                  <a16:creationId xmlns:a16="http://schemas.microsoft.com/office/drawing/2014/main" id="{D05DB63B-7396-7BD3-EA21-8CC8FA622B89}"/>
                </a:ext>
              </a:extLst>
            </p:cNvPr>
            <p:cNvSpPr/>
            <p:nvPr/>
          </p:nvSpPr>
          <p:spPr>
            <a:xfrm>
              <a:off x="5631673" y="54428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G</a:t>
              </a:r>
            </a:p>
          </p:txBody>
        </p:sp>
        <p:cxnSp>
          <p:nvCxnSpPr>
            <p:cNvPr id="100" name="Straight Arrow Connector 99">
              <a:extLst>
                <a:ext uri="{FF2B5EF4-FFF2-40B4-BE49-F238E27FC236}">
                  <a16:creationId xmlns:a16="http://schemas.microsoft.com/office/drawing/2014/main" id="{B6BAC3BF-2E4F-F4D1-B5F3-13616B3BB5FF}"/>
                </a:ext>
              </a:extLst>
            </p:cNvPr>
            <p:cNvCxnSpPr>
              <a:cxnSpLocks/>
              <a:stCxn id="87" idx="7"/>
              <a:endCxn id="99" idx="4"/>
            </p:cNvCxnSpPr>
            <p:nvPr/>
          </p:nvCxnSpPr>
          <p:spPr>
            <a:xfrm flipV="1">
              <a:off x="5598522" y="5875403"/>
              <a:ext cx="249417" cy="607432"/>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04" name="TextBox 103">
              <a:extLst>
                <a:ext uri="{FF2B5EF4-FFF2-40B4-BE49-F238E27FC236}">
                  <a16:creationId xmlns:a16="http://schemas.microsoft.com/office/drawing/2014/main" id="{E3DDB597-2F4E-36FC-F82E-89A8538CC91B}"/>
                </a:ext>
              </a:extLst>
            </p:cNvPr>
            <p:cNvSpPr txBox="1"/>
            <p:nvPr/>
          </p:nvSpPr>
          <p:spPr>
            <a:xfrm>
              <a:off x="13268712" y="5314781"/>
              <a:ext cx="2000615" cy="338554"/>
            </a:xfrm>
            <a:prstGeom prst="rect">
              <a:avLst/>
            </a:prstGeom>
            <a:noFill/>
          </p:spPr>
          <p:txBody>
            <a:bodyPr wrap="square" rtlCol="0">
              <a:spAutoFit/>
            </a:bodyPr>
            <a:lstStyle/>
            <a:p>
              <a:r>
                <a:rPr lang="en-US" sz="1600" dirty="0" err="1"/>
                <a:t>cleanUp</a:t>
              </a:r>
              <a:r>
                <a:rPr lang="en-US" sz="1600" dirty="0"/>
                <a:t> (GitLab/…)</a:t>
              </a:r>
            </a:p>
          </p:txBody>
        </p:sp>
        <p:sp>
          <p:nvSpPr>
            <p:cNvPr id="106" name="Oval 105">
              <a:extLst>
                <a:ext uri="{FF2B5EF4-FFF2-40B4-BE49-F238E27FC236}">
                  <a16:creationId xmlns:a16="http://schemas.microsoft.com/office/drawing/2014/main" id="{D1A86E4F-5D96-0F53-6045-FBDF31FDBDDE}"/>
                </a:ext>
              </a:extLst>
            </p:cNvPr>
            <p:cNvSpPr/>
            <p:nvPr/>
          </p:nvSpPr>
          <p:spPr>
            <a:xfrm>
              <a:off x="6639850" y="643321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H</a:t>
              </a:r>
            </a:p>
          </p:txBody>
        </p:sp>
        <p:sp>
          <p:nvSpPr>
            <p:cNvPr id="107" name="TextBox 106">
              <a:extLst>
                <a:ext uri="{FF2B5EF4-FFF2-40B4-BE49-F238E27FC236}">
                  <a16:creationId xmlns:a16="http://schemas.microsoft.com/office/drawing/2014/main" id="{BAEE49E3-7B70-9D89-7EEC-6265E4975E8E}"/>
                </a:ext>
              </a:extLst>
            </p:cNvPr>
            <p:cNvSpPr txBox="1"/>
            <p:nvPr/>
          </p:nvSpPr>
          <p:spPr>
            <a:xfrm>
              <a:off x="5911615" y="5702978"/>
              <a:ext cx="5330142" cy="738664"/>
            </a:xfrm>
            <a:prstGeom prst="rect">
              <a:avLst/>
            </a:prstGeom>
            <a:noFill/>
          </p:spPr>
          <p:txBody>
            <a:bodyPr wrap="square" rtlCol="0">
              <a:spAutoFit/>
            </a:bodyPr>
            <a:lstStyle/>
            <a:p>
              <a:r>
                <a:rPr lang="en-US" sz="1050" dirty="0">
                  <a:solidFill>
                    <a:srgbClr val="00B050"/>
                  </a:solidFill>
                </a:rPr>
                <a:t>Create a new branch “</a:t>
              </a:r>
              <a:r>
                <a:rPr lang="en-US" sz="1050" dirty="0" err="1">
                  <a:solidFill>
                    <a:srgbClr val="00B050"/>
                  </a:solidFill>
                </a:rPr>
                <a:t>cleanUp</a:t>
              </a:r>
              <a:r>
                <a:rPr lang="en-US" sz="1050" dirty="0">
                  <a:solidFill>
                    <a:srgbClr val="00B050"/>
                  </a:solidFill>
                </a:rPr>
                <a:t>” from F and clean the mess there to create commit G, so that branch develop2 is not altered for the purpose of publication and thus local development can move on smoothly. This is useful when the develop2 env has local dependencies that are not suitable for public but is needed/useful for local dev.</a:t>
              </a:r>
            </a:p>
          </p:txBody>
        </p:sp>
        <p:cxnSp>
          <p:nvCxnSpPr>
            <p:cNvPr id="108" name="Straight Connector 107">
              <a:extLst>
                <a:ext uri="{FF2B5EF4-FFF2-40B4-BE49-F238E27FC236}">
                  <a16:creationId xmlns:a16="http://schemas.microsoft.com/office/drawing/2014/main" id="{49F88FFC-89B2-D79A-9448-75AC69122128}"/>
                </a:ext>
              </a:extLst>
            </p:cNvPr>
            <p:cNvCxnSpPr>
              <a:cxnSpLocks/>
            </p:cNvCxnSpPr>
            <p:nvPr/>
          </p:nvCxnSpPr>
          <p:spPr>
            <a:xfrm>
              <a:off x="6307470" y="4721610"/>
              <a:ext cx="8939964"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111" name="Straight Arrow Connector 110">
              <a:extLst>
                <a:ext uri="{FF2B5EF4-FFF2-40B4-BE49-F238E27FC236}">
                  <a16:creationId xmlns:a16="http://schemas.microsoft.com/office/drawing/2014/main" id="{CDAACE9A-F81A-5F6F-641D-7A1D28BDBBBA}"/>
                </a:ext>
              </a:extLst>
            </p:cNvPr>
            <p:cNvCxnSpPr>
              <a:cxnSpLocks/>
              <a:stCxn id="37" idx="7"/>
              <a:endCxn id="117" idx="1"/>
            </p:cNvCxnSpPr>
            <p:nvPr/>
          </p:nvCxnSpPr>
          <p:spPr>
            <a:xfrm flipV="1">
              <a:off x="1128321" y="4719231"/>
              <a:ext cx="4783636" cy="176360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16" name="Oval 115">
              <a:extLst>
                <a:ext uri="{FF2B5EF4-FFF2-40B4-BE49-F238E27FC236}">
                  <a16:creationId xmlns:a16="http://schemas.microsoft.com/office/drawing/2014/main" id="{C70A95E1-D6FC-89E7-37C7-52532FE6960E}"/>
                </a:ext>
              </a:extLst>
            </p:cNvPr>
            <p:cNvSpPr/>
            <p:nvPr/>
          </p:nvSpPr>
          <p:spPr>
            <a:xfrm>
              <a:off x="5883437" y="4496128"/>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17" name="TextBox 116">
              <a:extLst>
                <a:ext uri="{FF2B5EF4-FFF2-40B4-BE49-F238E27FC236}">
                  <a16:creationId xmlns:a16="http://schemas.microsoft.com/office/drawing/2014/main" id="{70A98E7C-A990-4C7D-7AAF-FD4C4FBC6CDA}"/>
                </a:ext>
              </a:extLst>
            </p:cNvPr>
            <p:cNvSpPr txBox="1"/>
            <p:nvPr/>
          </p:nvSpPr>
          <p:spPr>
            <a:xfrm>
              <a:off x="5911957" y="4549954"/>
              <a:ext cx="481869" cy="338554"/>
            </a:xfrm>
            <a:prstGeom prst="rect">
              <a:avLst/>
            </a:prstGeom>
            <a:noFill/>
          </p:spPr>
          <p:txBody>
            <a:bodyPr wrap="square" rtlCol="0">
              <a:spAutoFit/>
            </a:bodyPr>
            <a:lstStyle/>
            <a:p>
              <a:r>
                <a:rPr lang="en-US" sz="1600" b="1" dirty="0"/>
                <a:t>S2</a:t>
              </a:r>
            </a:p>
          </p:txBody>
        </p:sp>
        <p:cxnSp>
          <p:nvCxnSpPr>
            <p:cNvPr id="121" name="Straight Arrow Connector 120">
              <a:extLst>
                <a:ext uri="{FF2B5EF4-FFF2-40B4-BE49-F238E27FC236}">
                  <a16:creationId xmlns:a16="http://schemas.microsoft.com/office/drawing/2014/main" id="{826B01E5-521E-6939-34B3-8C954F898BED}"/>
                </a:ext>
              </a:extLst>
            </p:cNvPr>
            <p:cNvCxnSpPr>
              <a:cxnSpLocks/>
              <a:stCxn id="99" idx="0"/>
              <a:endCxn id="116" idx="4"/>
            </p:cNvCxnSpPr>
            <p:nvPr/>
          </p:nvCxnSpPr>
          <p:spPr>
            <a:xfrm flipV="1">
              <a:off x="5847939" y="4928660"/>
              <a:ext cx="251764" cy="514211"/>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5" name="TextBox 124">
              <a:extLst>
                <a:ext uri="{FF2B5EF4-FFF2-40B4-BE49-F238E27FC236}">
                  <a16:creationId xmlns:a16="http://schemas.microsoft.com/office/drawing/2014/main" id="{D5FD3847-FE1D-A0D0-CD39-A8AF308C17B7}"/>
                </a:ext>
              </a:extLst>
            </p:cNvPr>
            <p:cNvSpPr txBox="1"/>
            <p:nvPr/>
          </p:nvSpPr>
          <p:spPr>
            <a:xfrm rot="16200000">
              <a:off x="7571251" y="3546868"/>
              <a:ext cx="669414" cy="3382700"/>
            </a:xfrm>
            <a:prstGeom prst="rect">
              <a:avLst/>
            </a:prstGeom>
            <a:noFill/>
          </p:spPr>
          <p:txBody>
            <a:bodyPr vert="eaVert" wrap="square" rtlCol="0">
              <a:spAutoFit/>
            </a:bodyPr>
            <a:lstStyle/>
            <a:p>
              <a:r>
                <a:rPr lang="en-US" sz="1050" dirty="0">
                  <a:solidFill>
                    <a:schemeClr val="accent2"/>
                  </a:solidFill>
                </a:rPr>
                <a:t>git merge –squash</a:t>
              </a:r>
              <a:br>
                <a:rPr lang="en-US" sz="1050" dirty="0">
                  <a:solidFill>
                    <a:schemeClr val="accent2"/>
                  </a:solidFill>
                </a:rPr>
              </a:br>
              <a:r>
                <a:rPr lang="en-US" sz="1050" dirty="0">
                  <a:solidFill>
                    <a:schemeClr val="accent2"/>
                  </a:solidFill>
                </a:rPr>
                <a:t>squash changes from D to G, all changes and cleanup</a:t>
              </a:r>
              <a:br>
                <a:rPr lang="en-US" sz="1050" dirty="0">
                  <a:solidFill>
                    <a:schemeClr val="accent2"/>
                  </a:solidFill>
                </a:rPr>
              </a:br>
              <a:r>
                <a:rPr lang="en-US" sz="1050" dirty="0">
                  <a:solidFill>
                    <a:schemeClr val="accent2"/>
                  </a:solidFill>
                </a:rPr>
                <a:t>Create S2, whose only parent is O</a:t>
              </a:r>
            </a:p>
          </p:txBody>
        </p:sp>
        <p:sp>
          <p:nvSpPr>
            <p:cNvPr id="128" name="Oval 127">
              <a:extLst>
                <a:ext uri="{FF2B5EF4-FFF2-40B4-BE49-F238E27FC236}">
                  <a16:creationId xmlns:a16="http://schemas.microsoft.com/office/drawing/2014/main" id="{B73624F4-FAD0-2A92-CEBC-4BB8959DB66A}"/>
                </a:ext>
              </a:extLst>
            </p:cNvPr>
            <p:cNvSpPr/>
            <p:nvPr/>
          </p:nvSpPr>
          <p:spPr>
            <a:xfrm>
              <a:off x="7043862" y="4496128"/>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29" name="TextBox 128">
              <a:extLst>
                <a:ext uri="{FF2B5EF4-FFF2-40B4-BE49-F238E27FC236}">
                  <a16:creationId xmlns:a16="http://schemas.microsoft.com/office/drawing/2014/main" id="{D34E1D4F-04D0-D676-FE6C-3B26704007CA}"/>
                </a:ext>
              </a:extLst>
            </p:cNvPr>
            <p:cNvSpPr txBox="1"/>
            <p:nvPr/>
          </p:nvSpPr>
          <p:spPr>
            <a:xfrm>
              <a:off x="7052577" y="4549954"/>
              <a:ext cx="481869" cy="338554"/>
            </a:xfrm>
            <a:prstGeom prst="rect">
              <a:avLst/>
            </a:prstGeom>
            <a:noFill/>
          </p:spPr>
          <p:txBody>
            <a:bodyPr wrap="square" rtlCol="0">
              <a:spAutoFit/>
            </a:bodyPr>
            <a:lstStyle/>
            <a:p>
              <a:r>
                <a:rPr lang="en-US" sz="1600" b="1" dirty="0"/>
                <a:t>M1</a:t>
              </a:r>
            </a:p>
          </p:txBody>
        </p:sp>
        <p:cxnSp>
          <p:nvCxnSpPr>
            <p:cNvPr id="130" name="Straight Arrow Connector 129">
              <a:extLst>
                <a:ext uri="{FF2B5EF4-FFF2-40B4-BE49-F238E27FC236}">
                  <a16:creationId xmlns:a16="http://schemas.microsoft.com/office/drawing/2014/main" id="{F2AE0136-3389-C8A9-E67B-7E1DDD2CA9FA}"/>
                </a:ext>
              </a:extLst>
            </p:cNvPr>
            <p:cNvCxnSpPr>
              <a:cxnSpLocks/>
              <a:stCxn id="84" idx="5"/>
            </p:cNvCxnSpPr>
            <p:nvPr/>
          </p:nvCxnSpPr>
          <p:spPr>
            <a:xfrm>
              <a:off x="4077572" y="3403161"/>
              <a:ext cx="2994810" cy="1201678"/>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37" name="TextBox 136">
              <a:extLst>
                <a:ext uri="{FF2B5EF4-FFF2-40B4-BE49-F238E27FC236}">
                  <a16:creationId xmlns:a16="http://schemas.microsoft.com/office/drawing/2014/main" id="{1EC7A1B8-E07C-DD13-66ED-C9C61F79F3F4}"/>
                </a:ext>
              </a:extLst>
            </p:cNvPr>
            <p:cNvSpPr txBox="1"/>
            <p:nvPr/>
          </p:nvSpPr>
          <p:spPr>
            <a:xfrm rot="16200000">
              <a:off x="3134769" y="2478953"/>
              <a:ext cx="992579" cy="3355914"/>
            </a:xfrm>
            <a:prstGeom prst="rect">
              <a:avLst/>
            </a:prstGeom>
            <a:noFill/>
          </p:spPr>
          <p:txBody>
            <a:bodyPr vert="eaVert" wrap="square" rtlCol="0">
              <a:spAutoFit/>
            </a:bodyPr>
            <a:lstStyle/>
            <a:p>
              <a:r>
                <a:rPr lang="en-US" sz="1050" dirty="0"/>
                <a:t>Public GitHub has already progressed from O to S1, so contributor 2 needs to merge S1 into S2 and make sure they work together before submit a pull request.</a:t>
              </a:r>
              <a:br>
                <a:rPr lang="en-US" sz="1050" dirty="0"/>
              </a:br>
              <a:r>
                <a:rPr lang="en-US" sz="1050" dirty="0"/>
                <a:t>(they can merge S1 earlier to E or F, but we don’t care what happened on their develop2 or </a:t>
              </a:r>
              <a:r>
                <a:rPr lang="en-US" sz="1050" dirty="0" err="1"/>
                <a:t>clearUp</a:t>
              </a:r>
              <a:r>
                <a:rPr lang="en-US" sz="1050" dirty="0"/>
                <a:t> branches)</a:t>
              </a:r>
            </a:p>
          </p:txBody>
        </p:sp>
        <p:sp>
          <p:nvSpPr>
            <p:cNvPr id="138" name="Oval 137">
              <a:extLst>
                <a:ext uri="{FF2B5EF4-FFF2-40B4-BE49-F238E27FC236}">
                  <a16:creationId xmlns:a16="http://schemas.microsoft.com/office/drawing/2014/main" id="{D77AE425-9A6D-0986-278B-89C111F7D49C}"/>
                </a:ext>
              </a:extLst>
            </p:cNvPr>
            <p:cNvSpPr/>
            <p:nvPr/>
          </p:nvSpPr>
          <p:spPr>
            <a:xfrm>
              <a:off x="8195572" y="4496128"/>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39" name="TextBox 138">
              <a:extLst>
                <a:ext uri="{FF2B5EF4-FFF2-40B4-BE49-F238E27FC236}">
                  <a16:creationId xmlns:a16="http://schemas.microsoft.com/office/drawing/2014/main" id="{895DD341-41BE-6212-4F6B-1855CBCCC604}"/>
                </a:ext>
              </a:extLst>
            </p:cNvPr>
            <p:cNvSpPr txBox="1"/>
            <p:nvPr/>
          </p:nvSpPr>
          <p:spPr>
            <a:xfrm>
              <a:off x="8178595" y="4546569"/>
              <a:ext cx="559726" cy="338554"/>
            </a:xfrm>
            <a:prstGeom prst="rect">
              <a:avLst/>
            </a:prstGeom>
            <a:noFill/>
          </p:spPr>
          <p:txBody>
            <a:bodyPr wrap="square" rtlCol="0">
              <a:spAutoFit/>
            </a:bodyPr>
            <a:lstStyle/>
            <a:p>
              <a:r>
                <a:rPr lang="en-US" sz="1600" b="1" dirty="0"/>
                <a:t>M1’</a:t>
              </a:r>
            </a:p>
          </p:txBody>
        </p:sp>
        <p:sp>
          <p:nvSpPr>
            <p:cNvPr id="140" name="TextBox 139">
              <a:extLst>
                <a:ext uri="{FF2B5EF4-FFF2-40B4-BE49-F238E27FC236}">
                  <a16:creationId xmlns:a16="http://schemas.microsoft.com/office/drawing/2014/main" id="{E3D0399C-8C06-C125-AA6F-DA955E52F9D4}"/>
                </a:ext>
              </a:extLst>
            </p:cNvPr>
            <p:cNvSpPr txBox="1"/>
            <p:nvPr/>
          </p:nvSpPr>
          <p:spPr>
            <a:xfrm>
              <a:off x="7389860" y="4477673"/>
              <a:ext cx="909223" cy="253916"/>
            </a:xfrm>
            <a:prstGeom prst="rect">
              <a:avLst/>
            </a:prstGeom>
            <a:noFill/>
          </p:spPr>
          <p:txBody>
            <a:bodyPr wrap="none" rtlCol="0">
              <a:spAutoFit/>
            </a:bodyPr>
            <a:lstStyle/>
            <a:p>
              <a:r>
                <a:rPr lang="en-US" sz="1050" dirty="0"/>
                <a:t>Fix if needed</a:t>
              </a:r>
            </a:p>
          </p:txBody>
        </p:sp>
        <p:cxnSp>
          <p:nvCxnSpPr>
            <p:cNvPr id="141" name="Straight Arrow Connector 140">
              <a:extLst>
                <a:ext uri="{FF2B5EF4-FFF2-40B4-BE49-F238E27FC236}">
                  <a16:creationId xmlns:a16="http://schemas.microsoft.com/office/drawing/2014/main" id="{F44C0F82-2760-EB44-034B-DAEBE7AA3333}"/>
                </a:ext>
              </a:extLst>
            </p:cNvPr>
            <p:cNvCxnSpPr>
              <a:cxnSpLocks/>
              <a:stCxn id="138" idx="0"/>
            </p:cNvCxnSpPr>
            <p:nvPr/>
          </p:nvCxnSpPr>
          <p:spPr>
            <a:xfrm flipH="1" flipV="1">
              <a:off x="8411189" y="3435293"/>
              <a:ext cx="649" cy="1060835"/>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6" name="Oval 145">
              <a:extLst>
                <a:ext uri="{FF2B5EF4-FFF2-40B4-BE49-F238E27FC236}">
                  <a16:creationId xmlns:a16="http://schemas.microsoft.com/office/drawing/2014/main" id="{5AB090EF-C48C-56F9-4D77-0653E3F6F2BE}"/>
                </a:ext>
              </a:extLst>
            </p:cNvPr>
            <p:cNvSpPr/>
            <p:nvPr/>
          </p:nvSpPr>
          <p:spPr>
            <a:xfrm>
              <a:off x="8177145" y="303029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47" name="TextBox 146">
              <a:extLst>
                <a:ext uri="{FF2B5EF4-FFF2-40B4-BE49-F238E27FC236}">
                  <a16:creationId xmlns:a16="http://schemas.microsoft.com/office/drawing/2014/main" id="{E130EEDD-B82D-A7AE-648F-2EC447B038A1}"/>
                </a:ext>
              </a:extLst>
            </p:cNvPr>
            <p:cNvSpPr txBox="1"/>
            <p:nvPr/>
          </p:nvSpPr>
          <p:spPr>
            <a:xfrm>
              <a:off x="8183893" y="3084116"/>
              <a:ext cx="481869" cy="338554"/>
            </a:xfrm>
            <a:prstGeom prst="rect">
              <a:avLst/>
            </a:prstGeom>
            <a:noFill/>
          </p:spPr>
          <p:txBody>
            <a:bodyPr wrap="square" rtlCol="0">
              <a:spAutoFit/>
            </a:bodyPr>
            <a:lstStyle/>
            <a:p>
              <a:r>
                <a:rPr lang="en-US" sz="1600" b="1" dirty="0"/>
                <a:t>S3</a:t>
              </a:r>
            </a:p>
          </p:txBody>
        </p:sp>
        <p:sp>
          <p:nvSpPr>
            <p:cNvPr id="148" name="TextBox 147">
              <a:extLst>
                <a:ext uri="{FF2B5EF4-FFF2-40B4-BE49-F238E27FC236}">
                  <a16:creationId xmlns:a16="http://schemas.microsoft.com/office/drawing/2014/main" id="{4129C441-784B-953C-D2BE-4C525DBF9B3F}"/>
                </a:ext>
              </a:extLst>
            </p:cNvPr>
            <p:cNvSpPr txBox="1"/>
            <p:nvPr/>
          </p:nvSpPr>
          <p:spPr>
            <a:xfrm rot="16200000">
              <a:off x="9199908" y="2885800"/>
              <a:ext cx="692497" cy="2069432"/>
            </a:xfrm>
            <a:prstGeom prst="rect">
              <a:avLst/>
            </a:prstGeom>
            <a:noFill/>
          </p:spPr>
          <p:txBody>
            <a:bodyPr vert="eaVert" wrap="square" rtlCol="0">
              <a:spAutoFit/>
            </a:bodyPr>
            <a:lstStyle/>
            <a:p>
              <a:r>
                <a:rPr lang="en-US" sz="1100" dirty="0"/>
                <a:t>Pull Request.</a:t>
              </a:r>
            </a:p>
            <a:p>
              <a:r>
                <a:rPr lang="en-US" sz="1100" dirty="0"/>
                <a:t>To keep GitHub history clear, we accept with </a:t>
              </a:r>
              <a:r>
                <a:rPr lang="en-US" sz="1100" dirty="0">
                  <a:highlight>
                    <a:srgbClr val="FFFF00"/>
                  </a:highlight>
                </a:rPr>
                <a:t>squash</a:t>
              </a:r>
              <a:r>
                <a:rPr lang="en-US" sz="1100" dirty="0"/>
                <a:t> merge.</a:t>
              </a:r>
            </a:p>
          </p:txBody>
        </p:sp>
        <p:sp>
          <p:nvSpPr>
            <p:cNvPr id="162" name="Oval 161">
              <a:extLst>
                <a:ext uri="{FF2B5EF4-FFF2-40B4-BE49-F238E27FC236}">
                  <a16:creationId xmlns:a16="http://schemas.microsoft.com/office/drawing/2014/main" id="{CF542C7A-B766-972E-69F0-A6C518F258BF}"/>
                </a:ext>
              </a:extLst>
            </p:cNvPr>
            <p:cNvSpPr/>
            <p:nvPr/>
          </p:nvSpPr>
          <p:spPr>
            <a:xfrm>
              <a:off x="7101914" y="8461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I</a:t>
              </a:r>
            </a:p>
          </p:txBody>
        </p:sp>
        <p:sp>
          <p:nvSpPr>
            <p:cNvPr id="163" name="Oval 162">
              <a:extLst>
                <a:ext uri="{FF2B5EF4-FFF2-40B4-BE49-F238E27FC236}">
                  <a16:creationId xmlns:a16="http://schemas.microsoft.com/office/drawing/2014/main" id="{DFECB6DA-7B69-4C54-8660-12B1294F9658}"/>
                </a:ext>
              </a:extLst>
            </p:cNvPr>
            <p:cNvSpPr/>
            <p:nvPr/>
          </p:nvSpPr>
          <p:spPr>
            <a:xfrm>
              <a:off x="8807537" y="85140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J</a:t>
              </a:r>
            </a:p>
          </p:txBody>
        </p:sp>
        <p:sp>
          <p:nvSpPr>
            <p:cNvPr id="165" name="TextBox 164">
              <a:extLst>
                <a:ext uri="{FF2B5EF4-FFF2-40B4-BE49-F238E27FC236}">
                  <a16:creationId xmlns:a16="http://schemas.microsoft.com/office/drawing/2014/main" id="{01524291-7E4B-C939-6385-30E9ABA122B5}"/>
                </a:ext>
              </a:extLst>
            </p:cNvPr>
            <p:cNvSpPr txBox="1"/>
            <p:nvPr/>
          </p:nvSpPr>
          <p:spPr>
            <a:xfrm rot="16200000">
              <a:off x="7622591" y="228309"/>
              <a:ext cx="954107" cy="2995325"/>
            </a:xfrm>
            <a:prstGeom prst="rect">
              <a:avLst/>
            </a:prstGeom>
            <a:noFill/>
          </p:spPr>
          <p:txBody>
            <a:bodyPr vert="eaVert" wrap="square" rtlCol="0">
              <a:spAutoFit/>
            </a:bodyPr>
            <a:lstStyle/>
            <a:p>
              <a:r>
                <a:rPr lang="en-US" sz="1000" dirty="0"/>
                <a:t>Contributor can fetch and merge S3 to their develop branch, so that they work with the latest code. (They need to do this carefully, since public settings may not match their local ones. But ideally, local specific env settings should not go to a collaborative repo)</a:t>
              </a:r>
            </a:p>
          </p:txBody>
        </p:sp>
        <p:sp>
          <p:nvSpPr>
            <p:cNvPr id="167" name="Oval 166">
              <a:extLst>
                <a:ext uri="{FF2B5EF4-FFF2-40B4-BE49-F238E27FC236}">
                  <a16:creationId xmlns:a16="http://schemas.microsoft.com/office/drawing/2014/main" id="{706A48C7-B481-291D-5A2A-7FC9F1FD45DD}"/>
                </a:ext>
              </a:extLst>
            </p:cNvPr>
            <p:cNvSpPr/>
            <p:nvPr/>
          </p:nvSpPr>
          <p:spPr>
            <a:xfrm>
              <a:off x="9873054" y="194501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p:txBody>
        </p:sp>
        <p:cxnSp>
          <p:nvCxnSpPr>
            <p:cNvPr id="168" name="Straight Arrow Connector 167">
              <a:extLst>
                <a:ext uri="{FF2B5EF4-FFF2-40B4-BE49-F238E27FC236}">
                  <a16:creationId xmlns:a16="http://schemas.microsoft.com/office/drawing/2014/main" id="{234C5863-122C-95A5-EFFD-4737E07BA5E6}"/>
                </a:ext>
              </a:extLst>
            </p:cNvPr>
            <p:cNvCxnSpPr>
              <a:cxnSpLocks/>
              <a:endCxn id="167" idx="1"/>
            </p:cNvCxnSpPr>
            <p:nvPr/>
          </p:nvCxnSpPr>
          <p:spPr>
            <a:xfrm>
              <a:off x="9240069" y="1256852"/>
              <a:ext cx="696328" cy="751504"/>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73" name="TextBox 172">
              <a:extLst>
                <a:ext uri="{FF2B5EF4-FFF2-40B4-BE49-F238E27FC236}">
                  <a16:creationId xmlns:a16="http://schemas.microsoft.com/office/drawing/2014/main" id="{6835ACF7-E3DF-27EB-C184-39EC9004E1C7}"/>
                </a:ext>
              </a:extLst>
            </p:cNvPr>
            <p:cNvSpPr txBox="1"/>
            <p:nvPr/>
          </p:nvSpPr>
          <p:spPr>
            <a:xfrm>
              <a:off x="9873054" y="1997342"/>
              <a:ext cx="481869" cy="338554"/>
            </a:xfrm>
            <a:prstGeom prst="rect">
              <a:avLst/>
            </a:prstGeom>
            <a:noFill/>
          </p:spPr>
          <p:txBody>
            <a:bodyPr wrap="square" rtlCol="0">
              <a:spAutoFit/>
            </a:bodyPr>
            <a:lstStyle/>
            <a:p>
              <a:r>
                <a:rPr lang="en-US" sz="1600" b="1" dirty="0"/>
                <a:t>S4</a:t>
              </a:r>
            </a:p>
          </p:txBody>
        </p:sp>
        <p:sp>
          <p:nvSpPr>
            <p:cNvPr id="175" name="Oval 174">
              <a:extLst>
                <a:ext uri="{FF2B5EF4-FFF2-40B4-BE49-F238E27FC236}">
                  <a16:creationId xmlns:a16="http://schemas.microsoft.com/office/drawing/2014/main" id="{2CD59E86-0271-BC9F-1407-311901C013A3}"/>
                </a:ext>
              </a:extLst>
            </p:cNvPr>
            <p:cNvSpPr/>
            <p:nvPr/>
          </p:nvSpPr>
          <p:spPr>
            <a:xfrm>
              <a:off x="11149565" y="195118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76" name="TextBox 175">
              <a:extLst>
                <a:ext uri="{FF2B5EF4-FFF2-40B4-BE49-F238E27FC236}">
                  <a16:creationId xmlns:a16="http://schemas.microsoft.com/office/drawing/2014/main" id="{2C35FB2C-B5BF-3BC2-D84E-7F36359DC202}"/>
                </a:ext>
              </a:extLst>
            </p:cNvPr>
            <p:cNvSpPr txBox="1"/>
            <p:nvPr/>
          </p:nvSpPr>
          <p:spPr>
            <a:xfrm>
              <a:off x="11158280" y="2005006"/>
              <a:ext cx="481869" cy="338554"/>
            </a:xfrm>
            <a:prstGeom prst="rect">
              <a:avLst/>
            </a:prstGeom>
            <a:noFill/>
          </p:spPr>
          <p:txBody>
            <a:bodyPr wrap="square" rtlCol="0">
              <a:spAutoFit/>
            </a:bodyPr>
            <a:lstStyle/>
            <a:p>
              <a:r>
                <a:rPr lang="en-US" sz="1600" b="1" dirty="0"/>
                <a:t>M2</a:t>
              </a:r>
            </a:p>
          </p:txBody>
        </p:sp>
        <p:sp>
          <p:nvSpPr>
            <p:cNvPr id="177" name="TextBox 176">
              <a:extLst>
                <a:ext uri="{FF2B5EF4-FFF2-40B4-BE49-F238E27FC236}">
                  <a16:creationId xmlns:a16="http://schemas.microsoft.com/office/drawing/2014/main" id="{DD3CC8EA-C878-E77A-22C1-82076269544D}"/>
                </a:ext>
              </a:extLst>
            </p:cNvPr>
            <p:cNvSpPr txBox="1"/>
            <p:nvPr/>
          </p:nvSpPr>
          <p:spPr>
            <a:xfrm rot="16200000">
              <a:off x="10218417" y="862408"/>
              <a:ext cx="369332" cy="1404651"/>
            </a:xfrm>
            <a:prstGeom prst="rect">
              <a:avLst/>
            </a:prstGeom>
            <a:noFill/>
          </p:spPr>
          <p:txBody>
            <a:bodyPr vert="eaVert" wrap="square" rtlCol="0">
              <a:spAutoFit/>
            </a:bodyPr>
            <a:lstStyle/>
            <a:p>
              <a:r>
                <a:rPr lang="en-US" sz="1200" dirty="0">
                  <a:solidFill>
                    <a:schemeClr val="accent2"/>
                  </a:solidFill>
                </a:rPr>
                <a:t>Squash merge</a:t>
              </a:r>
            </a:p>
          </p:txBody>
        </p:sp>
        <p:cxnSp>
          <p:nvCxnSpPr>
            <p:cNvPr id="178" name="Straight Arrow Connector 177">
              <a:extLst>
                <a:ext uri="{FF2B5EF4-FFF2-40B4-BE49-F238E27FC236}">
                  <a16:creationId xmlns:a16="http://schemas.microsoft.com/office/drawing/2014/main" id="{9B7C5304-AEBA-83B7-08C8-C52D49772974}"/>
                </a:ext>
              </a:extLst>
            </p:cNvPr>
            <p:cNvCxnSpPr>
              <a:cxnSpLocks/>
            </p:cNvCxnSpPr>
            <p:nvPr/>
          </p:nvCxnSpPr>
          <p:spPr>
            <a:xfrm flipV="1">
              <a:off x="8544452" y="2333192"/>
              <a:ext cx="2631993" cy="747243"/>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82" name="TextBox 181">
              <a:extLst>
                <a:ext uri="{FF2B5EF4-FFF2-40B4-BE49-F238E27FC236}">
                  <a16:creationId xmlns:a16="http://schemas.microsoft.com/office/drawing/2014/main" id="{FC1A8F50-48F8-8217-6534-F72DF98BAF6C}"/>
                </a:ext>
              </a:extLst>
            </p:cNvPr>
            <p:cNvSpPr txBox="1"/>
            <p:nvPr/>
          </p:nvSpPr>
          <p:spPr>
            <a:xfrm rot="16200000">
              <a:off x="10326958" y="1008968"/>
              <a:ext cx="507831" cy="3355914"/>
            </a:xfrm>
            <a:prstGeom prst="rect">
              <a:avLst/>
            </a:prstGeom>
            <a:noFill/>
          </p:spPr>
          <p:txBody>
            <a:bodyPr vert="eaVert" wrap="square" rtlCol="0">
              <a:spAutoFit/>
            </a:bodyPr>
            <a:lstStyle/>
            <a:p>
              <a:r>
                <a:rPr lang="en-US" sz="1050" dirty="0"/>
                <a:t>Merge S3 into S4, resolve conflicts,</a:t>
              </a:r>
            </a:p>
            <a:p>
              <a:r>
                <a:rPr lang="en-US" sz="1050" dirty="0"/>
                <a:t>compile and test. If work, submit PR</a:t>
              </a:r>
            </a:p>
          </p:txBody>
        </p:sp>
        <p:sp>
          <p:nvSpPr>
            <p:cNvPr id="186" name="TextBox 185">
              <a:extLst>
                <a:ext uri="{FF2B5EF4-FFF2-40B4-BE49-F238E27FC236}">
                  <a16:creationId xmlns:a16="http://schemas.microsoft.com/office/drawing/2014/main" id="{FCB4D43D-06DA-2DAE-7109-DD433E8FF920}"/>
                </a:ext>
              </a:extLst>
            </p:cNvPr>
            <p:cNvSpPr txBox="1"/>
            <p:nvPr/>
          </p:nvSpPr>
          <p:spPr>
            <a:xfrm rot="16200000">
              <a:off x="12137163" y="1690523"/>
              <a:ext cx="861774" cy="2069432"/>
            </a:xfrm>
            <a:prstGeom prst="rect">
              <a:avLst/>
            </a:prstGeom>
            <a:noFill/>
          </p:spPr>
          <p:txBody>
            <a:bodyPr vert="eaVert" wrap="square" rtlCol="0">
              <a:spAutoFit/>
            </a:bodyPr>
            <a:lstStyle/>
            <a:p>
              <a:r>
                <a:rPr lang="en-US" sz="1100" dirty="0"/>
                <a:t>Pull Request.</a:t>
              </a:r>
            </a:p>
            <a:p>
              <a:r>
                <a:rPr lang="en-US" sz="1100" dirty="0"/>
                <a:t>We SHOULD use Squash merge to accept PR in general, which always creates a new commit.</a:t>
              </a:r>
            </a:p>
          </p:txBody>
        </p:sp>
        <p:sp>
          <p:nvSpPr>
            <p:cNvPr id="189" name="Oval 188">
              <a:extLst>
                <a:ext uri="{FF2B5EF4-FFF2-40B4-BE49-F238E27FC236}">
                  <a16:creationId xmlns:a16="http://schemas.microsoft.com/office/drawing/2014/main" id="{6BA3D421-8856-0358-EC87-584764359AD4}"/>
                </a:ext>
              </a:extLst>
            </p:cNvPr>
            <p:cNvSpPr/>
            <p:nvPr/>
          </p:nvSpPr>
          <p:spPr>
            <a:xfrm>
              <a:off x="11169697" y="30586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90" name="TextBox 189">
              <a:extLst>
                <a:ext uri="{FF2B5EF4-FFF2-40B4-BE49-F238E27FC236}">
                  <a16:creationId xmlns:a16="http://schemas.microsoft.com/office/drawing/2014/main" id="{83B8E41C-2DBC-B38E-363B-488E1FCC133B}"/>
                </a:ext>
              </a:extLst>
            </p:cNvPr>
            <p:cNvSpPr txBox="1"/>
            <p:nvPr/>
          </p:nvSpPr>
          <p:spPr>
            <a:xfrm>
              <a:off x="11176445" y="3112497"/>
              <a:ext cx="481869" cy="338554"/>
            </a:xfrm>
            <a:prstGeom prst="rect">
              <a:avLst/>
            </a:prstGeom>
            <a:noFill/>
          </p:spPr>
          <p:txBody>
            <a:bodyPr wrap="square" rtlCol="0">
              <a:spAutoFit/>
            </a:bodyPr>
            <a:lstStyle/>
            <a:p>
              <a:r>
                <a:rPr lang="en-US" sz="1600" b="1" dirty="0"/>
                <a:t>S5</a:t>
              </a:r>
            </a:p>
          </p:txBody>
        </p:sp>
        <p:cxnSp>
          <p:nvCxnSpPr>
            <p:cNvPr id="191" name="Straight Arrow Connector 190">
              <a:extLst>
                <a:ext uri="{FF2B5EF4-FFF2-40B4-BE49-F238E27FC236}">
                  <a16:creationId xmlns:a16="http://schemas.microsoft.com/office/drawing/2014/main" id="{179ECC51-8741-4C58-1056-B3BFE7DC0447}"/>
                </a:ext>
              </a:extLst>
            </p:cNvPr>
            <p:cNvCxnSpPr>
              <a:cxnSpLocks/>
              <a:stCxn id="175" idx="4"/>
              <a:endCxn id="189" idx="0"/>
            </p:cNvCxnSpPr>
            <p:nvPr/>
          </p:nvCxnSpPr>
          <p:spPr>
            <a:xfrm>
              <a:off x="11365831" y="2383712"/>
              <a:ext cx="20132" cy="674959"/>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Rounded Corners 3">
              <a:extLst>
                <a:ext uri="{FF2B5EF4-FFF2-40B4-BE49-F238E27FC236}">
                  <a16:creationId xmlns:a16="http://schemas.microsoft.com/office/drawing/2014/main" id="{0958AA3B-7526-DB6D-7F3A-8DF699CD287F}"/>
                </a:ext>
              </a:extLst>
            </p:cNvPr>
            <p:cNvSpPr/>
            <p:nvPr/>
          </p:nvSpPr>
          <p:spPr>
            <a:xfrm rot="5400000">
              <a:off x="14891479" y="1104543"/>
              <a:ext cx="2016255" cy="640682"/>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Contributor 1</a:t>
              </a:r>
              <a:br>
                <a:rPr lang="en-US" dirty="0"/>
              </a:br>
              <a:r>
                <a:rPr lang="en-US" dirty="0"/>
                <a:t>Private</a:t>
              </a:r>
            </a:p>
          </p:txBody>
        </p:sp>
        <p:sp>
          <p:nvSpPr>
            <p:cNvPr id="8" name="Rectangle: Rounded Corners 7">
              <a:extLst>
                <a:ext uri="{FF2B5EF4-FFF2-40B4-BE49-F238E27FC236}">
                  <a16:creationId xmlns:a16="http://schemas.microsoft.com/office/drawing/2014/main" id="{C0B5D87A-5571-51C0-F354-31FB13849947}"/>
                </a:ext>
              </a:extLst>
            </p:cNvPr>
            <p:cNvSpPr/>
            <p:nvPr/>
          </p:nvSpPr>
          <p:spPr>
            <a:xfrm rot="5400000">
              <a:off x="14583768" y="5396516"/>
              <a:ext cx="2631677" cy="640682"/>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Contributor 2</a:t>
              </a:r>
              <a:br>
                <a:rPr lang="en-US" dirty="0"/>
              </a:br>
              <a:r>
                <a:rPr lang="en-US" dirty="0"/>
                <a:t>Private</a:t>
              </a:r>
            </a:p>
          </p:txBody>
        </p:sp>
        <p:sp>
          <p:nvSpPr>
            <p:cNvPr id="9" name="Rectangle: Rounded Corners 8">
              <a:extLst>
                <a:ext uri="{FF2B5EF4-FFF2-40B4-BE49-F238E27FC236}">
                  <a16:creationId xmlns:a16="http://schemas.microsoft.com/office/drawing/2014/main" id="{6CDD33F6-721B-5F55-C64E-5AB47CF76B97}"/>
                </a:ext>
              </a:extLst>
            </p:cNvPr>
            <p:cNvSpPr/>
            <p:nvPr/>
          </p:nvSpPr>
          <p:spPr>
            <a:xfrm rot="5400000">
              <a:off x="15312490" y="2972807"/>
              <a:ext cx="1174233" cy="640682"/>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GitHub</a:t>
              </a:r>
            </a:p>
            <a:p>
              <a:pPr algn="ctr"/>
              <a:r>
                <a:rPr lang="en-US" dirty="0"/>
                <a:t>Public</a:t>
              </a:r>
            </a:p>
          </p:txBody>
        </p:sp>
      </p:grpSp>
      <p:sp>
        <p:nvSpPr>
          <p:cNvPr id="11" name="TextBox 10">
            <a:extLst>
              <a:ext uri="{FF2B5EF4-FFF2-40B4-BE49-F238E27FC236}">
                <a16:creationId xmlns:a16="http://schemas.microsoft.com/office/drawing/2014/main" id="{D4034D21-789D-227C-47DD-46160650B2F7}"/>
              </a:ext>
            </a:extLst>
          </p:cNvPr>
          <p:cNvSpPr txBox="1"/>
          <p:nvPr/>
        </p:nvSpPr>
        <p:spPr>
          <a:xfrm rot="16200000">
            <a:off x="10161392" y="4951450"/>
            <a:ext cx="1292662" cy="5785382"/>
          </a:xfrm>
          <a:prstGeom prst="rect">
            <a:avLst/>
          </a:prstGeom>
          <a:noFill/>
        </p:spPr>
        <p:txBody>
          <a:bodyPr vert="eaVert" wrap="square" rtlCol="0">
            <a:spAutoFit/>
          </a:bodyPr>
          <a:lstStyle/>
          <a:p>
            <a:r>
              <a:rPr lang="en-US" sz="1200" dirty="0"/>
              <a:t>Caveat:</a:t>
            </a:r>
            <a:br>
              <a:rPr lang="en-US" sz="1200" dirty="0"/>
            </a:br>
            <a:r>
              <a:rPr lang="en-US" sz="1200" b="1" dirty="0"/>
              <a:t>If updates entered </a:t>
            </a:r>
            <a:r>
              <a:rPr lang="en-US" b="1" dirty="0"/>
              <a:t>main (i.e. Public_GitHub)</a:t>
            </a:r>
            <a:r>
              <a:rPr lang="en-US" sz="1200" b="1" dirty="0"/>
              <a:t> via squash merge</a:t>
            </a:r>
          </a:p>
          <a:p>
            <a:r>
              <a:rPr lang="en-US" sz="1200" dirty="0"/>
              <a:t>Then bringing </a:t>
            </a:r>
            <a:r>
              <a:rPr lang="en-US" dirty="0"/>
              <a:t>main</a:t>
            </a:r>
            <a:r>
              <a:rPr lang="en-US" sz="1200" dirty="0"/>
              <a:t> back into a long-lived dev branches can become awkward. Git tracks commits by hash and parentage, not by “same overall effect.” </a:t>
            </a:r>
          </a:p>
          <a:p>
            <a:endParaRPr lang="en-US" sz="1200" dirty="0"/>
          </a:p>
        </p:txBody>
      </p:sp>
    </p:spTree>
    <p:extLst>
      <p:ext uri="{BB962C8B-B14F-4D97-AF65-F5344CB8AC3E}">
        <p14:creationId xmlns:p14="http://schemas.microsoft.com/office/powerpoint/2010/main" val="2531824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8716D5B-A537-6C8C-3F4B-4ED442601E6F}"/>
              </a:ext>
            </a:extLst>
          </p:cNvPr>
          <p:cNvPicPr>
            <a:picLocks noChangeAspect="1"/>
          </p:cNvPicPr>
          <p:nvPr/>
        </p:nvPicPr>
        <p:blipFill>
          <a:blip r:embed="rId2"/>
          <a:stretch>
            <a:fillRect/>
          </a:stretch>
        </p:blipFill>
        <p:spPr>
          <a:xfrm>
            <a:off x="487200" y="327212"/>
            <a:ext cx="5720536" cy="848957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C9623670-1B4A-CD4C-393C-42264E37810E}"/>
              </a:ext>
            </a:extLst>
          </p:cNvPr>
          <p:cNvPicPr>
            <a:picLocks noChangeAspect="1"/>
          </p:cNvPicPr>
          <p:nvPr/>
        </p:nvPicPr>
        <p:blipFill>
          <a:blip r:embed="rId3"/>
          <a:stretch>
            <a:fillRect/>
          </a:stretch>
        </p:blipFill>
        <p:spPr>
          <a:xfrm>
            <a:off x="7035282" y="400013"/>
            <a:ext cx="6432367" cy="834397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042465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BEBE25D-15B1-66F9-DCB0-8EB505A8322E}"/>
              </a:ext>
            </a:extLst>
          </p:cNvPr>
          <p:cNvPicPr>
            <a:picLocks noChangeAspect="1"/>
          </p:cNvPicPr>
          <p:nvPr/>
        </p:nvPicPr>
        <p:blipFill>
          <a:blip r:embed="rId2"/>
          <a:stretch>
            <a:fillRect/>
          </a:stretch>
        </p:blipFill>
        <p:spPr>
          <a:xfrm>
            <a:off x="504553" y="313508"/>
            <a:ext cx="6853816" cy="864761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0B80E33E-1216-C80E-4D88-F6E82E49EF3E}"/>
              </a:ext>
            </a:extLst>
          </p:cNvPr>
          <p:cNvPicPr>
            <a:picLocks noChangeAspect="1"/>
          </p:cNvPicPr>
          <p:nvPr/>
        </p:nvPicPr>
        <p:blipFill>
          <a:blip r:embed="rId3"/>
          <a:stretch>
            <a:fillRect/>
          </a:stretch>
        </p:blipFill>
        <p:spPr>
          <a:xfrm>
            <a:off x="7990012" y="475013"/>
            <a:ext cx="7736414" cy="848610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40760167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474</TotalTime>
  <Words>552</Words>
  <Application>Microsoft Office PowerPoint</Application>
  <PresentationFormat>Custom</PresentationFormat>
  <Paragraphs>58</Paragraphs>
  <Slides>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Yao, John</dc:creator>
  <cp:lastModifiedBy>Yao, John</cp:lastModifiedBy>
  <cp:revision>17</cp:revision>
  <dcterms:created xsi:type="dcterms:W3CDTF">2026-04-16T16:50:39Z</dcterms:created>
  <dcterms:modified xsi:type="dcterms:W3CDTF">2026-04-17T21:59:41Z</dcterms:modified>
</cp:coreProperties>
</file>